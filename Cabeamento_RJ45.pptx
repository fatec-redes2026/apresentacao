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escur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47548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47548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ic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Cabeamento RJ45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Crimpagem de cabo</a:t>
            </a:r>
            <a:endParaRPr lang="en-US" sz="2200" dirty="0"/>
          </a:p>
        </p:txBody>
      </p:sp>
      <p:sp>
        <p:nvSpPr>
          <p:cNvPr id="4" name="tema 0 círculo"/>
          <p:cNvSpPr/>
          <p:nvPr/>
        </p:nvSpPr>
        <p:spPr>
          <a:xfrm>
            <a:off x="6035040" y="1234440"/>
            <a:ext cx="960120" cy="9601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tema 0" descr="tema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4272" y="1493672"/>
            <a:ext cx="441655" cy="441655"/>
          </a:xfrm>
          <a:prstGeom prst="rect">
            <a:avLst/>
          </a:prstGeom>
        </p:spPr>
      </p:pic>
      <p:sp>
        <p:nvSpPr>
          <p:cNvPr id="6" name="tema 1 círculo"/>
          <p:cNvSpPr/>
          <p:nvPr/>
        </p:nvSpPr>
        <p:spPr>
          <a:xfrm>
            <a:off x="7269480" y="123444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tema 1" descr="tema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712" y="1493672"/>
            <a:ext cx="441655" cy="441655"/>
          </a:xfrm>
          <a:prstGeom prst="rect">
            <a:avLst/>
          </a:prstGeom>
        </p:spPr>
      </p:pic>
      <p:sp>
        <p:nvSpPr>
          <p:cNvPr id="8" name="tema 2 círculo"/>
          <p:cNvSpPr/>
          <p:nvPr/>
        </p:nvSpPr>
        <p:spPr>
          <a:xfrm>
            <a:off x="6035040" y="2468880"/>
            <a:ext cx="960120" cy="9601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tema 2" descr="tema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272" y="2728112"/>
            <a:ext cx="441655" cy="441655"/>
          </a:xfrm>
          <a:prstGeom prst="rect">
            <a:avLst/>
          </a:prstGeom>
        </p:spPr>
      </p:pic>
      <p:sp>
        <p:nvSpPr>
          <p:cNvPr id="10" name="tema 3 círculo"/>
          <p:cNvSpPr/>
          <p:nvPr/>
        </p:nvSpPr>
        <p:spPr>
          <a:xfrm>
            <a:off x="7269480" y="2468880"/>
            <a:ext cx="960120" cy="9601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tema 3" descr="tema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712" y="2728112"/>
            <a:ext cx="441655" cy="4416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CABEAMENTO RJ45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Cabos: os dois padrões de crimpagem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2 padrões para a crimpagem de cabos de rede:</a:t>
            </a:r>
            <a:endParaRPr lang="en-US" sz="1700" dirty="0"/>
          </a:p>
        </p:txBody>
      </p:sp>
      <p:sp>
        <p:nvSpPr>
          <p:cNvPr id="5" name="T568A"/>
          <p:cNvSpPr/>
          <p:nvPr/>
        </p:nvSpPr>
        <p:spPr>
          <a:xfrm>
            <a:off x="457200" y="1691640"/>
            <a:ext cx="4023360" cy="297180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568A círculo"/>
          <p:cNvSpPr/>
          <p:nvPr/>
        </p:nvSpPr>
        <p:spPr>
          <a:xfrm>
            <a:off x="73152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T568A" descr="T568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2117750"/>
            <a:ext cx="336499" cy="33649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T568A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331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Retrocompatível com a telefonia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8803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estabelecido para ser retrocompatível com o padrão telefônico USOC: permite que linhas telefônicas de 1 ou 2 pares sejam conectadas ao mesmo conector de rede (norma ANSI/TIA/EIA-568).</a:t>
            </a:r>
            <a:endParaRPr lang="en-US" sz="1500" dirty="0"/>
          </a:p>
        </p:txBody>
      </p:sp>
      <p:sp>
        <p:nvSpPr>
          <p:cNvPr id="11" name="T568B"/>
          <p:cNvSpPr/>
          <p:nvPr/>
        </p:nvSpPr>
        <p:spPr>
          <a:xfrm>
            <a:off x="4663440" y="1691640"/>
            <a:ext cx="4023360" cy="297180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568B círculo"/>
          <p:cNvSpPr/>
          <p:nvPr/>
        </p:nvSpPr>
        <p:spPr>
          <a:xfrm>
            <a:off x="4937760" y="19202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T568B" descr="T568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270" y="2117750"/>
            <a:ext cx="336499" cy="33649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85216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T568B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5852160" y="2331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pela AT&amp;T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937760" y="28803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AT&amp;T havia criado esse padrão, e muitas empresas o adotaram. Quando o T568A foi lançado, percebeu-se que várias empresas precisariam refazer toda a fiação, por isso os dois padrões foram mantidos.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CABEAMENTO RJ45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Ordem dos fios</a:t>
            </a:r>
            <a:endParaRPr lang="en-US" sz="2600" dirty="0"/>
          </a:p>
        </p:txBody>
      </p:sp>
      <p:sp>
        <p:nvSpPr>
          <p:cNvPr id="4" name="T568A"/>
          <p:cNvSpPr/>
          <p:nvPr/>
        </p:nvSpPr>
        <p:spPr>
          <a:xfrm>
            <a:off x="457200" y="1188720"/>
            <a:ext cx="4023360" cy="324612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T568A</a:t>
            </a:r>
            <a:endParaRPr lang="en-US" sz="2200" dirty="0"/>
          </a:p>
        </p:txBody>
      </p:sp>
      <p:sp>
        <p:nvSpPr>
          <p:cNvPr id="6" name="T568A conector"/>
          <p:cNvSpPr/>
          <p:nvPr/>
        </p:nvSpPr>
        <p:spPr>
          <a:xfrm>
            <a:off x="640080" y="2011680"/>
            <a:ext cx="1901952" cy="1382573"/>
          </a:xfrm>
          <a:prstGeom prst="rect">
            <a:avLst/>
          </a:prstGeom>
          <a:solidFill>
            <a:srgbClr val="FFFFFF">
              <a:alpha val="70000"/>
            </a:srgbClr>
          </a:solidFill>
          <a:ln w="15875">
            <a:solidFill>
              <a:srgbClr val="3341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55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pino 1"/>
          <p:cNvSpPr/>
          <p:nvPr/>
        </p:nvSpPr>
        <p:spPr>
          <a:xfrm>
            <a:off x="731520" y="2057400"/>
            <a:ext cx="1828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9" name="listra"/>
          <p:cNvSpPr/>
          <p:nvPr/>
        </p:nvSpPr>
        <p:spPr>
          <a:xfrm>
            <a:off x="731520" y="2167128"/>
            <a:ext cx="182880" cy="1554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listra"/>
          <p:cNvSpPr/>
          <p:nvPr/>
        </p:nvSpPr>
        <p:spPr>
          <a:xfrm>
            <a:off x="731520" y="2551176"/>
            <a:ext cx="182880" cy="1554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listra"/>
          <p:cNvSpPr/>
          <p:nvPr/>
        </p:nvSpPr>
        <p:spPr>
          <a:xfrm>
            <a:off x="731520" y="2935224"/>
            <a:ext cx="182880" cy="1554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listra"/>
          <p:cNvSpPr/>
          <p:nvPr/>
        </p:nvSpPr>
        <p:spPr>
          <a:xfrm>
            <a:off x="731520" y="3319272"/>
            <a:ext cx="182880" cy="1554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listra"/>
          <p:cNvSpPr/>
          <p:nvPr/>
        </p:nvSpPr>
        <p:spPr>
          <a:xfrm>
            <a:off x="731520" y="3703320"/>
            <a:ext cx="182880" cy="1554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5256" y="1755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pino 2"/>
          <p:cNvSpPr/>
          <p:nvPr/>
        </p:nvSpPr>
        <p:spPr>
          <a:xfrm>
            <a:off x="950976" y="2057400"/>
            <a:ext cx="182880" cy="192024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24712" y="1755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pino 3"/>
          <p:cNvSpPr/>
          <p:nvPr/>
        </p:nvSpPr>
        <p:spPr>
          <a:xfrm>
            <a:off x="1170432" y="2057400"/>
            <a:ext cx="1828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18" name="listra"/>
          <p:cNvSpPr/>
          <p:nvPr/>
        </p:nvSpPr>
        <p:spPr>
          <a:xfrm>
            <a:off x="1170432" y="2167128"/>
            <a:ext cx="182880" cy="1554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listra"/>
          <p:cNvSpPr/>
          <p:nvPr/>
        </p:nvSpPr>
        <p:spPr>
          <a:xfrm>
            <a:off x="1170432" y="2551176"/>
            <a:ext cx="182880" cy="1554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listra"/>
          <p:cNvSpPr/>
          <p:nvPr/>
        </p:nvSpPr>
        <p:spPr>
          <a:xfrm>
            <a:off x="1170432" y="2935224"/>
            <a:ext cx="182880" cy="1554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listra"/>
          <p:cNvSpPr/>
          <p:nvPr/>
        </p:nvSpPr>
        <p:spPr>
          <a:xfrm>
            <a:off x="1170432" y="3319272"/>
            <a:ext cx="182880" cy="1554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listra"/>
          <p:cNvSpPr/>
          <p:nvPr/>
        </p:nvSpPr>
        <p:spPr>
          <a:xfrm>
            <a:off x="1170432" y="3703320"/>
            <a:ext cx="182880" cy="1554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344168" y="1755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pino 4"/>
          <p:cNvSpPr/>
          <p:nvPr/>
        </p:nvSpPr>
        <p:spPr>
          <a:xfrm>
            <a:off x="1389888" y="2057400"/>
            <a:ext cx="182880" cy="192024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63624" y="1755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pino 5"/>
          <p:cNvSpPr/>
          <p:nvPr/>
        </p:nvSpPr>
        <p:spPr>
          <a:xfrm>
            <a:off x="1609344" y="2057400"/>
            <a:ext cx="1828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7" name="listra"/>
          <p:cNvSpPr/>
          <p:nvPr/>
        </p:nvSpPr>
        <p:spPr>
          <a:xfrm>
            <a:off x="1609344" y="2167128"/>
            <a:ext cx="182880" cy="1554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listra"/>
          <p:cNvSpPr/>
          <p:nvPr/>
        </p:nvSpPr>
        <p:spPr>
          <a:xfrm>
            <a:off x="1609344" y="2551176"/>
            <a:ext cx="182880" cy="1554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listra"/>
          <p:cNvSpPr/>
          <p:nvPr/>
        </p:nvSpPr>
        <p:spPr>
          <a:xfrm>
            <a:off x="1609344" y="2935224"/>
            <a:ext cx="182880" cy="1554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listra"/>
          <p:cNvSpPr/>
          <p:nvPr/>
        </p:nvSpPr>
        <p:spPr>
          <a:xfrm>
            <a:off x="1609344" y="3319272"/>
            <a:ext cx="182880" cy="1554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listra"/>
          <p:cNvSpPr/>
          <p:nvPr/>
        </p:nvSpPr>
        <p:spPr>
          <a:xfrm>
            <a:off x="1609344" y="3703320"/>
            <a:ext cx="182880" cy="1554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783080" y="1755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pino 6"/>
          <p:cNvSpPr/>
          <p:nvPr/>
        </p:nvSpPr>
        <p:spPr>
          <a:xfrm>
            <a:off x="1828800" y="2057400"/>
            <a:ext cx="182880" cy="1920240"/>
          </a:xfrm>
          <a:prstGeom prst="rect">
            <a:avLst/>
          </a:prstGeom>
          <a:solidFill>
            <a:srgbClr val="F97316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002536" y="1755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5" name="pino 7"/>
          <p:cNvSpPr/>
          <p:nvPr/>
        </p:nvSpPr>
        <p:spPr>
          <a:xfrm>
            <a:off x="2048256" y="2057400"/>
            <a:ext cx="1828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92400E"/>
            </a:solidFill>
            <a:prstDash val="solid"/>
          </a:ln>
        </p:spPr>
      </p:sp>
      <p:sp>
        <p:nvSpPr>
          <p:cNvPr id="36" name="listra"/>
          <p:cNvSpPr/>
          <p:nvPr/>
        </p:nvSpPr>
        <p:spPr>
          <a:xfrm>
            <a:off x="2048256" y="2167128"/>
            <a:ext cx="182880" cy="155448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37" name="listra"/>
          <p:cNvSpPr/>
          <p:nvPr/>
        </p:nvSpPr>
        <p:spPr>
          <a:xfrm>
            <a:off x="2048256" y="2551176"/>
            <a:ext cx="182880" cy="155448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38" name="listra"/>
          <p:cNvSpPr/>
          <p:nvPr/>
        </p:nvSpPr>
        <p:spPr>
          <a:xfrm>
            <a:off x="2048256" y="2935224"/>
            <a:ext cx="182880" cy="155448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39" name="listra"/>
          <p:cNvSpPr/>
          <p:nvPr/>
        </p:nvSpPr>
        <p:spPr>
          <a:xfrm>
            <a:off x="2048256" y="3319272"/>
            <a:ext cx="182880" cy="155448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40" name="listra"/>
          <p:cNvSpPr/>
          <p:nvPr/>
        </p:nvSpPr>
        <p:spPr>
          <a:xfrm>
            <a:off x="2048256" y="3703320"/>
            <a:ext cx="182880" cy="155448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221992" y="1755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pino 8"/>
          <p:cNvSpPr/>
          <p:nvPr/>
        </p:nvSpPr>
        <p:spPr>
          <a:xfrm>
            <a:off x="2267712" y="2057400"/>
            <a:ext cx="182880" cy="1920240"/>
          </a:xfrm>
          <a:prstGeom prst="rect">
            <a:avLst/>
          </a:prstGeom>
          <a:solidFill>
            <a:srgbClr val="92400E"/>
          </a:solidFill>
          <a:ln w="9525">
            <a:solidFill>
              <a:srgbClr val="92400E"/>
            </a:solidFill>
            <a:prstDash val="solid"/>
          </a:ln>
        </p:spPr>
      </p:sp>
      <p:sp>
        <p:nvSpPr>
          <p:cNvPr id="43" name="cor 1"/>
          <p:cNvSpPr/>
          <p:nvPr/>
        </p:nvSpPr>
        <p:spPr>
          <a:xfrm>
            <a:off x="2788920" y="1883664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081528" y="1847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Branco/verde</a:t>
            </a:r>
            <a:endParaRPr lang="en-US" sz="1300" dirty="0"/>
          </a:p>
        </p:txBody>
      </p:sp>
      <p:sp>
        <p:nvSpPr>
          <p:cNvPr id="45" name="cor 2"/>
          <p:cNvSpPr/>
          <p:nvPr/>
        </p:nvSpPr>
        <p:spPr>
          <a:xfrm>
            <a:off x="2788920" y="2185416"/>
            <a:ext cx="219456" cy="219456"/>
          </a:xfrm>
          <a:prstGeom prst="ellipse">
            <a:avLst/>
          </a:prstGeom>
          <a:solidFill>
            <a:srgbClr val="16A34A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081528" y="21488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1300" dirty="0"/>
          </a:p>
        </p:txBody>
      </p:sp>
      <p:sp>
        <p:nvSpPr>
          <p:cNvPr id="47" name="cor 3"/>
          <p:cNvSpPr/>
          <p:nvPr/>
        </p:nvSpPr>
        <p:spPr>
          <a:xfrm>
            <a:off x="2788920" y="2487168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081528" y="24505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Branco/laranja</a:t>
            </a:r>
            <a:endParaRPr lang="en-US" sz="1300" dirty="0"/>
          </a:p>
        </p:txBody>
      </p:sp>
      <p:sp>
        <p:nvSpPr>
          <p:cNvPr id="49" name="cor 4"/>
          <p:cNvSpPr/>
          <p:nvPr/>
        </p:nvSpPr>
        <p:spPr>
          <a:xfrm>
            <a:off x="2788920" y="2788920"/>
            <a:ext cx="219456" cy="21945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081528" y="27523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</a:t>
            </a:r>
            <a:endParaRPr lang="en-US" sz="1300" dirty="0"/>
          </a:p>
        </p:txBody>
      </p:sp>
      <p:sp>
        <p:nvSpPr>
          <p:cNvPr id="51" name="cor 5"/>
          <p:cNvSpPr/>
          <p:nvPr/>
        </p:nvSpPr>
        <p:spPr>
          <a:xfrm>
            <a:off x="2788920" y="3090672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081528" y="30540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Branco/azul</a:t>
            </a:r>
            <a:endParaRPr lang="en-US" sz="1300" dirty="0"/>
          </a:p>
        </p:txBody>
      </p:sp>
      <p:sp>
        <p:nvSpPr>
          <p:cNvPr id="53" name="cor 6"/>
          <p:cNvSpPr/>
          <p:nvPr/>
        </p:nvSpPr>
        <p:spPr>
          <a:xfrm>
            <a:off x="2788920" y="3392424"/>
            <a:ext cx="219456" cy="219456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081528" y="33558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Laranja</a:t>
            </a:r>
            <a:endParaRPr lang="en-US" sz="1300" dirty="0"/>
          </a:p>
        </p:txBody>
      </p:sp>
      <p:sp>
        <p:nvSpPr>
          <p:cNvPr id="55" name="cor 7"/>
          <p:cNvSpPr/>
          <p:nvPr/>
        </p:nvSpPr>
        <p:spPr>
          <a:xfrm>
            <a:off x="2788920" y="3694176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2400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081528" y="3657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Branco/marrom</a:t>
            </a:r>
            <a:endParaRPr lang="en-US" sz="1300" dirty="0"/>
          </a:p>
        </p:txBody>
      </p:sp>
      <p:sp>
        <p:nvSpPr>
          <p:cNvPr id="57" name="cor 8"/>
          <p:cNvSpPr/>
          <p:nvPr/>
        </p:nvSpPr>
        <p:spPr>
          <a:xfrm>
            <a:off x="2788920" y="3995928"/>
            <a:ext cx="219456" cy="219456"/>
          </a:xfrm>
          <a:prstGeom prst="ellipse">
            <a:avLst/>
          </a:prstGeom>
          <a:solidFill>
            <a:srgbClr val="92400E"/>
          </a:solidFill>
          <a:ln w="25400">
            <a:solidFill>
              <a:srgbClr val="92400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081528" y="39593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Marrom</a:t>
            </a:r>
            <a:endParaRPr lang="en-US" sz="1300" dirty="0"/>
          </a:p>
        </p:txBody>
      </p:sp>
      <p:sp>
        <p:nvSpPr>
          <p:cNvPr id="59" name="T568B"/>
          <p:cNvSpPr/>
          <p:nvPr/>
        </p:nvSpPr>
        <p:spPr>
          <a:xfrm>
            <a:off x="4663440" y="1188720"/>
            <a:ext cx="4023360" cy="324612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89204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T568B</a:t>
            </a:r>
            <a:endParaRPr lang="en-US" sz="2200" dirty="0"/>
          </a:p>
        </p:txBody>
      </p:sp>
      <p:sp>
        <p:nvSpPr>
          <p:cNvPr id="61" name="T568B conector"/>
          <p:cNvSpPr/>
          <p:nvPr/>
        </p:nvSpPr>
        <p:spPr>
          <a:xfrm>
            <a:off x="4846320" y="2011680"/>
            <a:ext cx="1901952" cy="1382573"/>
          </a:xfrm>
          <a:prstGeom prst="rect">
            <a:avLst/>
          </a:prstGeom>
          <a:solidFill>
            <a:srgbClr val="FFFFFF">
              <a:alpha val="70000"/>
            </a:srgbClr>
          </a:solidFill>
          <a:ln w="15875">
            <a:solidFill>
              <a:srgbClr val="334155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892040" y="1755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3" name="pino 1"/>
          <p:cNvSpPr/>
          <p:nvPr/>
        </p:nvSpPr>
        <p:spPr>
          <a:xfrm>
            <a:off x="4937760" y="2057400"/>
            <a:ext cx="1828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64" name="listra"/>
          <p:cNvSpPr/>
          <p:nvPr/>
        </p:nvSpPr>
        <p:spPr>
          <a:xfrm>
            <a:off x="4937760" y="2167128"/>
            <a:ext cx="182880" cy="1554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5" name="listra"/>
          <p:cNvSpPr/>
          <p:nvPr/>
        </p:nvSpPr>
        <p:spPr>
          <a:xfrm>
            <a:off x="4937760" y="2551176"/>
            <a:ext cx="182880" cy="1554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6" name="listra"/>
          <p:cNvSpPr/>
          <p:nvPr/>
        </p:nvSpPr>
        <p:spPr>
          <a:xfrm>
            <a:off x="4937760" y="2935224"/>
            <a:ext cx="182880" cy="1554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7" name="listra"/>
          <p:cNvSpPr/>
          <p:nvPr/>
        </p:nvSpPr>
        <p:spPr>
          <a:xfrm>
            <a:off x="4937760" y="3319272"/>
            <a:ext cx="182880" cy="1554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8" name="listra"/>
          <p:cNvSpPr/>
          <p:nvPr/>
        </p:nvSpPr>
        <p:spPr>
          <a:xfrm>
            <a:off x="4937760" y="3703320"/>
            <a:ext cx="182880" cy="1554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5111496" y="1755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0" name="pino 2"/>
          <p:cNvSpPr/>
          <p:nvPr/>
        </p:nvSpPr>
        <p:spPr>
          <a:xfrm>
            <a:off x="5157216" y="2057400"/>
            <a:ext cx="182880" cy="1920240"/>
          </a:xfrm>
          <a:prstGeom prst="rect">
            <a:avLst/>
          </a:prstGeom>
          <a:solidFill>
            <a:srgbClr val="F97316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330952" y="1755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72" name="pino 3"/>
          <p:cNvSpPr/>
          <p:nvPr/>
        </p:nvSpPr>
        <p:spPr>
          <a:xfrm>
            <a:off x="5376672" y="2057400"/>
            <a:ext cx="1828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73" name="listra"/>
          <p:cNvSpPr/>
          <p:nvPr/>
        </p:nvSpPr>
        <p:spPr>
          <a:xfrm>
            <a:off x="5376672" y="2167128"/>
            <a:ext cx="182880" cy="1554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4" name="listra"/>
          <p:cNvSpPr/>
          <p:nvPr/>
        </p:nvSpPr>
        <p:spPr>
          <a:xfrm>
            <a:off x="5376672" y="2551176"/>
            <a:ext cx="182880" cy="1554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5" name="listra"/>
          <p:cNvSpPr/>
          <p:nvPr/>
        </p:nvSpPr>
        <p:spPr>
          <a:xfrm>
            <a:off x="5376672" y="2935224"/>
            <a:ext cx="182880" cy="1554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6" name="listra"/>
          <p:cNvSpPr/>
          <p:nvPr/>
        </p:nvSpPr>
        <p:spPr>
          <a:xfrm>
            <a:off x="5376672" y="3319272"/>
            <a:ext cx="182880" cy="1554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7" name="listra"/>
          <p:cNvSpPr/>
          <p:nvPr/>
        </p:nvSpPr>
        <p:spPr>
          <a:xfrm>
            <a:off x="5376672" y="3703320"/>
            <a:ext cx="182880" cy="1554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5550408" y="1755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79" name="pino 4"/>
          <p:cNvSpPr/>
          <p:nvPr/>
        </p:nvSpPr>
        <p:spPr>
          <a:xfrm>
            <a:off x="5596128" y="2057400"/>
            <a:ext cx="182880" cy="192024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5769864" y="1755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81" name="pino 5"/>
          <p:cNvSpPr/>
          <p:nvPr/>
        </p:nvSpPr>
        <p:spPr>
          <a:xfrm>
            <a:off x="5815584" y="2057400"/>
            <a:ext cx="1828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2" name="listra"/>
          <p:cNvSpPr/>
          <p:nvPr/>
        </p:nvSpPr>
        <p:spPr>
          <a:xfrm>
            <a:off x="5815584" y="2167128"/>
            <a:ext cx="182880" cy="1554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3" name="listra"/>
          <p:cNvSpPr/>
          <p:nvPr/>
        </p:nvSpPr>
        <p:spPr>
          <a:xfrm>
            <a:off x="5815584" y="2551176"/>
            <a:ext cx="182880" cy="1554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4" name="listra"/>
          <p:cNvSpPr/>
          <p:nvPr/>
        </p:nvSpPr>
        <p:spPr>
          <a:xfrm>
            <a:off x="5815584" y="2935224"/>
            <a:ext cx="182880" cy="1554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5" name="listra"/>
          <p:cNvSpPr/>
          <p:nvPr/>
        </p:nvSpPr>
        <p:spPr>
          <a:xfrm>
            <a:off x="5815584" y="3319272"/>
            <a:ext cx="182880" cy="1554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6" name="listra"/>
          <p:cNvSpPr/>
          <p:nvPr/>
        </p:nvSpPr>
        <p:spPr>
          <a:xfrm>
            <a:off x="5815584" y="3703320"/>
            <a:ext cx="182880" cy="1554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5989320" y="1755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88" name="pino 6"/>
          <p:cNvSpPr/>
          <p:nvPr/>
        </p:nvSpPr>
        <p:spPr>
          <a:xfrm>
            <a:off x="6035040" y="2057400"/>
            <a:ext cx="182880" cy="192024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6208776" y="1755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90" name="pino 7"/>
          <p:cNvSpPr/>
          <p:nvPr/>
        </p:nvSpPr>
        <p:spPr>
          <a:xfrm>
            <a:off x="6254496" y="2057400"/>
            <a:ext cx="1828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92400E"/>
            </a:solidFill>
            <a:prstDash val="solid"/>
          </a:ln>
        </p:spPr>
      </p:sp>
      <p:sp>
        <p:nvSpPr>
          <p:cNvPr id="91" name="listra"/>
          <p:cNvSpPr/>
          <p:nvPr/>
        </p:nvSpPr>
        <p:spPr>
          <a:xfrm>
            <a:off x="6254496" y="2167128"/>
            <a:ext cx="182880" cy="155448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92" name="listra"/>
          <p:cNvSpPr/>
          <p:nvPr/>
        </p:nvSpPr>
        <p:spPr>
          <a:xfrm>
            <a:off x="6254496" y="2551176"/>
            <a:ext cx="182880" cy="155448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93" name="listra"/>
          <p:cNvSpPr/>
          <p:nvPr/>
        </p:nvSpPr>
        <p:spPr>
          <a:xfrm>
            <a:off x="6254496" y="2935224"/>
            <a:ext cx="182880" cy="155448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94" name="listra"/>
          <p:cNvSpPr/>
          <p:nvPr/>
        </p:nvSpPr>
        <p:spPr>
          <a:xfrm>
            <a:off x="6254496" y="3319272"/>
            <a:ext cx="182880" cy="155448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95" name="listra"/>
          <p:cNvSpPr/>
          <p:nvPr/>
        </p:nvSpPr>
        <p:spPr>
          <a:xfrm>
            <a:off x="6254496" y="3703320"/>
            <a:ext cx="182880" cy="155448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6428232" y="1755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97" name="pino 8"/>
          <p:cNvSpPr/>
          <p:nvPr/>
        </p:nvSpPr>
        <p:spPr>
          <a:xfrm>
            <a:off x="6473952" y="2057400"/>
            <a:ext cx="182880" cy="1920240"/>
          </a:xfrm>
          <a:prstGeom prst="rect">
            <a:avLst/>
          </a:prstGeom>
          <a:solidFill>
            <a:srgbClr val="92400E"/>
          </a:solidFill>
          <a:ln w="9525">
            <a:solidFill>
              <a:srgbClr val="92400E"/>
            </a:solidFill>
            <a:prstDash val="solid"/>
          </a:ln>
        </p:spPr>
      </p:sp>
      <p:sp>
        <p:nvSpPr>
          <p:cNvPr id="98" name="cor 1"/>
          <p:cNvSpPr/>
          <p:nvPr/>
        </p:nvSpPr>
        <p:spPr>
          <a:xfrm>
            <a:off x="6995160" y="1883664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7287768" y="1847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Branco/laranja</a:t>
            </a:r>
            <a:endParaRPr lang="en-US" sz="1300" dirty="0"/>
          </a:p>
        </p:txBody>
      </p:sp>
      <p:sp>
        <p:nvSpPr>
          <p:cNvPr id="100" name="cor 2"/>
          <p:cNvSpPr/>
          <p:nvPr/>
        </p:nvSpPr>
        <p:spPr>
          <a:xfrm>
            <a:off x="6995160" y="2185416"/>
            <a:ext cx="219456" cy="219456"/>
          </a:xfrm>
          <a:prstGeom prst="ellipse">
            <a:avLst/>
          </a:prstGeom>
          <a:solidFill>
            <a:srgbClr val="F97316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7287768" y="21488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Laranja</a:t>
            </a:r>
            <a:endParaRPr lang="en-US" sz="1300" dirty="0"/>
          </a:p>
        </p:txBody>
      </p:sp>
      <p:sp>
        <p:nvSpPr>
          <p:cNvPr id="102" name="cor 3"/>
          <p:cNvSpPr/>
          <p:nvPr/>
        </p:nvSpPr>
        <p:spPr>
          <a:xfrm>
            <a:off x="6995160" y="2487168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7287768" y="24505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Branco/verde</a:t>
            </a:r>
            <a:endParaRPr lang="en-US" sz="1300" dirty="0"/>
          </a:p>
        </p:txBody>
      </p:sp>
      <p:sp>
        <p:nvSpPr>
          <p:cNvPr id="104" name="cor 4"/>
          <p:cNvSpPr/>
          <p:nvPr/>
        </p:nvSpPr>
        <p:spPr>
          <a:xfrm>
            <a:off x="6995160" y="2788920"/>
            <a:ext cx="219456" cy="21945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7287768" y="27523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</a:t>
            </a:r>
            <a:endParaRPr lang="en-US" sz="1300" dirty="0"/>
          </a:p>
        </p:txBody>
      </p:sp>
      <p:sp>
        <p:nvSpPr>
          <p:cNvPr id="106" name="cor 5"/>
          <p:cNvSpPr/>
          <p:nvPr/>
        </p:nvSpPr>
        <p:spPr>
          <a:xfrm>
            <a:off x="6995160" y="3090672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7287768" y="30540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Branco/azul</a:t>
            </a:r>
            <a:endParaRPr lang="en-US" sz="1300" dirty="0"/>
          </a:p>
        </p:txBody>
      </p:sp>
      <p:sp>
        <p:nvSpPr>
          <p:cNvPr id="108" name="cor 6"/>
          <p:cNvSpPr/>
          <p:nvPr/>
        </p:nvSpPr>
        <p:spPr>
          <a:xfrm>
            <a:off x="6995160" y="3392424"/>
            <a:ext cx="219456" cy="219456"/>
          </a:xfrm>
          <a:prstGeom prst="ellipse">
            <a:avLst/>
          </a:prstGeom>
          <a:solidFill>
            <a:srgbClr val="16A34A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7287768" y="33558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1300" dirty="0"/>
          </a:p>
        </p:txBody>
      </p:sp>
      <p:sp>
        <p:nvSpPr>
          <p:cNvPr id="110" name="cor 7"/>
          <p:cNvSpPr/>
          <p:nvPr/>
        </p:nvSpPr>
        <p:spPr>
          <a:xfrm>
            <a:off x="6995160" y="3694176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2400E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7287768" y="3657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Branco/marrom</a:t>
            </a:r>
            <a:endParaRPr lang="en-US" sz="1300" dirty="0"/>
          </a:p>
        </p:txBody>
      </p:sp>
      <p:sp>
        <p:nvSpPr>
          <p:cNvPr id="112" name="cor 8"/>
          <p:cNvSpPr/>
          <p:nvPr/>
        </p:nvSpPr>
        <p:spPr>
          <a:xfrm>
            <a:off x="6995160" y="3995928"/>
            <a:ext cx="219456" cy="219456"/>
          </a:xfrm>
          <a:prstGeom prst="ellipse">
            <a:avLst/>
          </a:prstGeom>
          <a:solidFill>
            <a:srgbClr val="92400E"/>
          </a:solidFill>
          <a:ln w="25400">
            <a:solidFill>
              <a:srgbClr val="92400E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7287768" y="39593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Marrom</a:t>
            </a:r>
            <a:endParaRPr lang="en-US" sz="1300" dirty="0"/>
          </a:p>
        </p:txBody>
      </p:sp>
      <p:sp>
        <p:nvSpPr>
          <p:cNvPr id="114" name="Text 112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pares laranja e verde trocam de lugar (pinos 1-2 e 3-6). Azul e marrom ficam iguais.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CABEAMENTO RJ45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cabos</a:t>
            </a:r>
            <a:endParaRPr lang="en-US" sz="2600" dirty="0"/>
          </a:p>
        </p:txBody>
      </p:sp>
      <p:pic>
        <p:nvPicPr>
          <p:cNvPr id="4" name="foto dos cabos" descr="Cabos Cat5e, Cat6, Cat6a e Cat7 com os pares expos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188720"/>
            <a:ext cx="6766560" cy="1843888"/>
          </a:xfrm>
          <a:prstGeom prst="rect">
            <a:avLst/>
          </a:prstGeom>
        </p:spPr>
      </p:pic>
      <p:graphicFrame>
        <p:nvGraphicFramePr>
          <p:cNvPr id="5" name="tabela tipos de cab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78328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91640"/>
                <a:gridCol w="1691640"/>
                <a:gridCol w="1691640"/>
                <a:gridCol w="16916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Cat5e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Cat6a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277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Velocidade máxima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Gbps (Gigabit)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Gbps (até 55 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Gbps (até 100 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Gbps (até 100 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Largura de banda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MHz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MHz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MHz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Blindagem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Blindagem global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Blindagem individual e global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PVC ou F/UTP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F/UTP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beamento RJ45">
  <a:themeElements>
    <a:clrScheme name="Cabeamento RJ45">
      <a:dk1>
        <a:srgbClr val="16213E"/>
      </a:dk1>
      <a:lt1>
        <a:srgbClr val="FFFFFF"/>
      </a:lt1>
      <a:dk2>
        <a:srgbClr val="334155"/>
      </a:dk2>
      <a:lt2>
        <a:srgbClr val="EEF2F7"/>
      </a:lt2>
      <a:accent1>
        <a:srgbClr val="0D9488"/>
      </a:accent1>
      <a:accent2>
        <a:srgbClr val="D97706"/>
      </a:accent2>
      <a:accent3>
        <a:srgbClr val="4F46E5"/>
      </a:accent3>
      <a:accent4>
        <a:srgbClr val="DB2777"/>
      </a:accent4>
      <a:accent5>
        <a:srgbClr val="0284C7"/>
      </a:accent5>
      <a:accent6>
        <a:srgbClr val="7C3AED"/>
      </a:accent6>
      <a:hlink>
        <a:srgbClr val="4F46E5"/>
      </a:hlink>
      <a:folHlink>
        <a:srgbClr val="7C3AED"/>
      </a:folHlink>
    </a:clrScheme>
    <a:fontScheme name="Cabeamento RJ45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Cabeamento RJ45</dc:title>
  <dc:subject>PptxGenJS Presentation</dc:subject>
  <dc:creator>PptxGenJS</dc:creator>
  <cp:lastModifiedBy>PptxGenJS</cp:lastModifiedBy>
  <cp:revision>1</cp:revision>
  <dcterms:created xsi:type="dcterms:W3CDTF">2026-10-16T22:05:51Z</dcterms:created>
  <dcterms:modified xsi:type="dcterms:W3CDTF">2026-10-16T22:05:51Z</dcterms:modified>
</cp:coreProperties>
</file>
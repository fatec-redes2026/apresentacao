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escura">
  <p:cSld name="Capa escura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48640" y="132588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48640" y="301752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">
  <p:cSld name="Conteudo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inel lateral">
  <p:cSld name="Painel lateral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o">
  <p:cSld name="Topico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2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48640" y="132588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Redes</a:t>
            </a:r>
            <a:endParaRPr sz="4400"/>
          </a:p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48640" y="301752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>
                <a:solidFill>
                  <a:schemeClr val="accent1"/>
                </a:solidFill>
              </a:rPr>
              <a:t>Alcance Geográfico, Topologia e Arquitetura</a:t>
            </a:r>
            <a:endParaRPr sz="2000"/>
          </a:p>
        </p:txBody>
      </p:sp>
      <p:sp>
        <p:nvSpPr>
          <p:cNvPr id="31" name="Google Shape;31;p7"/>
          <p:cNvSpPr/>
          <p:nvPr/>
        </p:nvSpPr>
        <p:spPr>
          <a:xfrm>
            <a:off x="5715000" y="1325880"/>
            <a:ext cx="822960" cy="8229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de 0" id="32" name="Google Shape;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7199" y="154807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/>
        </p:nvSpPr>
        <p:spPr>
          <a:xfrm>
            <a:off x="6766560" y="132588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de 1" id="34" name="Google Shape;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8759" y="154807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/>
          <p:nvPr/>
        </p:nvSpPr>
        <p:spPr>
          <a:xfrm>
            <a:off x="7818120" y="1325880"/>
            <a:ext cx="822960" cy="8229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de 2" id="36" name="Google Shape;3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0319" y="154807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/>
          <p:nvPr/>
        </p:nvSpPr>
        <p:spPr>
          <a:xfrm>
            <a:off x="5715000" y="2377440"/>
            <a:ext cx="822960" cy="8229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de 3" id="38" name="Google Shape;3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7199" y="259963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6766560" y="2377440"/>
            <a:ext cx="822960" cy="8229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de 4" id="40" name="Google Shape;4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88759" y="259963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7818120" y="2377440"/>
            <a:ext cx="822960" cy="822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de 5" id="42" name="Google Shape;4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0319" y="2599639"/>
            <a:ext cx="378562" cy="37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Três formas de classificar uma rede</a:t>
            </a:r>
            <a:endParaRPr sz="2800"/>
          </a:p>
        </p:txBody>
      </p:sp>
      <p:sp>
        <p:nvSpPr>
          <p:cNvPr id="49" name="Google Shape;49;p8"/>
          <p:cNvSpPr/>
          <p:nvPr/>
        </p:nvSpPr>
        <p:spPr>
          <a:xfrm>
            <a:off x="457200" y="1051560"/>
            <a:ext cx="2606040" cy="292608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lcance geográfico"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22" y="145298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/>
        </p:nvSpPr>
        <p:spPr>
          <a:xfrm>
            <a:off x="685800" y="205740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685800" y="2423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Qual a área que a rede cobre?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685800" y="3063240"/>
            <a:ext cx="46177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685800" y="3063240"/>
            <a:ext cx="4617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239012" y="3063240"/>
            <a:ext cx="46177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1239012" y="3063240"/>
            <a:ext cx="4617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1792224" y="3063240"/>
            <a:ext cx="539496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1792224" y="3063240"/>
            <a:ext cx="539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685800" y="3474720"/>
            <a:ext cx="46177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 txBox="1"/>
          <p:nvPr/>
        </p:nvSpPr>
        <p:spPr>
          <a:xfrm>
            <a:off x="685800" y="3474720"/>
            <a:ext cx="4617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1239012" y="3474720"/>
            <a:ext cx="46177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1239012" y="3474720"/>
            <a:ext cx="4617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1792224" y="3474720"/>
            <a:ext cx="46177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 txBox="1"/>
          <p:nvPr/>
        </p:nvSpPr>
        <p:spPr>
          <a:xfrm>
            <a:off x="1792224" y="3474720"/>
            <a:ext cx="4617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2345436" y="3474720"/>
            <a:ext cx="46177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/>
        </p:nvSpPr>
        <p:spPr>
          <a:xfrm>
            <a:off x="2345436" y="3474720"/>
            <a:ext cx="4617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3268980" y="1051560"/>
            <a:ext cx="2606040" cy="292608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3497580" y="1280160"/>
            <a:ext cx="640080" cy="64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opologia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0402" y="145298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497580" y="205740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3497580" y="2423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Como os dispositivos estão ligados?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3497580" y="3063240"/>
            <a:ext cx="772668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3497580" y="3063240"/>
            <a:ext cx="7726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Estrela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361688" y="3063240"/>
            <a:ext cx="1005840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4361688" y="306324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Barramento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3497580" y="3474720"/>
            <a:ext cx="539496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 txBox="1"/>
          <p:nvPr/>
        </p:nvSpPr>
        <p:spPr>
          <a:xfrm>
            <a:off x="3497580" y="3474720"/>
            <a:ext cx="539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Anel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4128516" y="3474720"/>
            <a:ext cx="617220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4128516" y="3474720"/>
            <a:ext cx="6172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Malha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837176" y="3474720"/>
            <a:ext cx="85039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/>
        </p:nvSpPr>
        <p:spPr>
          <a:xfrm>
            <a:off x="4837176" y="3474720"/>
            <a:ext cx="8503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Comutada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6080760" y="1051560"/>
            <a:ext cx="2606040" cy="292608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6309360" y="128016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rquitetura" id="85" name="Google Shape;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2182" y="145298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6309360" y="205740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309360" y="2423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Quem oferece e quem consome os recursos?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09360" y="3063240"/>
            <a:ext cx="1627632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6309360" y="3063240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Peer-to-peer (P2P)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309360" y="3474720"/>
            <a:ext cx="1472184" cy="329184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6309360" y="3474720"/>
            <a:ext cx="1472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Cliente-servidor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N"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PAN</a:t>
            </a:r>
            <a:endParaRPr sz="4000"/>
          </a:p>
        </p:txBody>
      </p:sp>
      <p:sp>
        <p:nvSpPr>
          <p:cNvPr id="103" name="Google Shape;103;p9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Personal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Poucos metros (até cerca de 10 m)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365760" y="41605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MENOR AO MAIOR ALCANCE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9"/>
          <p:cNvCxnSpPr/>
          <p:nvPr/>
        </p:nvCxnSpPr>
        <p:spPr>
          <a:xfrm>
            <a:off x="502920" y="4572000"/>
            <a:ext cx="2057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9"/>
          <p:cNvSpPr/>
          <p:nvPr/>
        </p:nvSpPr>
        <p:spPr>
          <a:xfrm>
            <a:off x="411480" y="4480560"/>
            <a:ext cx="182880" cy="18288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2743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859536" y="45171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 txBox="1"/>
          <p:nvPr/>
        </p:nvSpPr>
        <p:spPr>
          <a:xfrm>
            <a:off x="68580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271016" y="45171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109728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1682496" y="45171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150876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2093976" y="45171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192024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505456" y="45171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 txBox="1"/>
          <p:nvPr/>
        </p:nvSpPr>
        <p:spPr>
          <a:xfrm>
            <a:off x="23317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3291840" y="411480"/>
            <a:ext cx="5394960" cy="5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tipo de rede de menor alcance, com raio de conexão de até algo em torno de 10 metros.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291840" y="1004743"/>
            <a:ext cx="5394960" cy="379476"/>
          </a:xfrm>
          <a:prstGeom prst="roundRect">
            <a:avLst>
              <a:gd fmla="val 240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3474720" y="1096183"/>
            <a:ext cx="502920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conexão Bluetooth entre fone de ouvido e celular.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291840" y="1521379"/>
            <a:ext cx="5394960" cy="3141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3383280" y="1521379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4526280" y="1521379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USB, Thunderbolt, Bluetooth, Zigbee, NFC, infravermelho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3383280" y="1835567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Padrão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4526280" y="1835567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802.15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291840" y="2149754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3383280" y="2149754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4526280" y="2149754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Baixo consumo de energia, baixo custo, configuração simples e poucos dispositivos conectados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3383280" y="2668402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4526280" y="2668402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curto, baixa taxa de transferência, risco de segurança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N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LAN</a:t>
            </a:r>
            <a:endParaRPr sz="4000"/>
          </a:p>
        </p:txBody>
      </p:sp>
      <p:sp>
        <p:nvSpPr>
          <p:cNvPr id="144" name="Google Shape;144;p10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Local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Cerca de 1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365760" y="41605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MENOR AO MAIOR ALCANCE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502920" y="4572000"/>
            <a:ext cx="2057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0"/>
          <p:cNvSpPr/>
          <p:nvPr/>
        </p:nvSpPr>
        <p:spPr>
          <a:xfrm>
            <a:off x="448056" y="45171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2743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822960" y="4480560"/>
            <a:ext cx="182880" cy="18288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68580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271016" y="45171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109728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682496" y="45171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150876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2093976" y="45171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192024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505456" y="45171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23317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3291840" y="411480"/>
            <a:ext cx="5394960" cy="5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 local restrita a uma área geográfica pequena: cômodo, residência, escritório ou prédio.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291840" y="1004743"/>
            <a:ext cx="5394960" cy="379476"/>
          </a:xfrm>
          <a:prstGeom prst="roundRect">
            <a:avLst>
              <a:gd fmla="val 240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3474720" y="1096183"/>
            <a:ext cx="502920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cabos RJ45 que conectam computadores, celulares e TVs ao roteador.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291840" y="1521379"/>
            <a:ext cx="5394960" cy="3141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3383280" y="1521379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4526280" y="1521379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usando par trançado ou fibra óptica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3383280" y="1835567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Padrão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4526280" y="1835567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802.3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291840" y="2149754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3383280" y="2149754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4526280" y="2149754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taxa de transmissão (de 100 Mbps até vários Gbps), baixa latência, baixa taxa de erros e administração privada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3383280" y="2668402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4526280" y="2668402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mais comum é a estrela, com vários dispositivos ligados a um switch central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291840" y="3187050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3383280" y="3187050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4526280" y="3187050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geográfica; cuidado com a própria segurança (senha do Wi-Fi, firewall)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383280" y="3705697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Equipamentos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4526280" y="3705697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Roteadores, switches, access points, placas de rede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LAN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WLAN</a:t>
            </a:r>
            <a:endParaRPr sz="4000"/>
          </a:p>
        </p:txBody>
      </p:sp>
      <p:sp>
        <p:nvSpPr>
          <p:cNvPr id="190" name="Google Shape;190;p11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Wireless Local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Cerca de 50 a 100 m em 2,4 GHz, ou 30 a 50 m em 5 GHz ou 6 GHz (varia com obstáculos)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365760" y="41605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MENOR AO MAIOR ALCANCE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1"/>
          <p:cNvCxnSpPr/>
          <p:nvPr/>
        </p:nvCxnSpPr>
        <p:spPr>
          <a:xfrm>
            <a:off x="502920" y="4572000"/>
            <a:ext cx="2057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1"/>
          <p:cNvSpPr/>
          <p:nvPr/>
        </p:nvSpPr>
        <p:spPr>
          <a:xfrm>
            <a:off x="448056" y="45171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 txBox="1"/>
          <p:nvPr/>
        </p:nvSpPr>
        <p:spPr>
          <a:xfrm>
            <a:off x="2743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859536" y="45171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68580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234440" y="4480560"/>
            <a:ext cx="182880" cy="18288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 txBox="1"/>
          <p:nvPr/>
        </p:nvSpPr>
        <p:spPr>
          <a:xfrm>
            <a:off x="109728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682496" y="45171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150876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093976" y="45171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192024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505456" y="45171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23317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3291840" y="411480"/>
            <a:ext cx="5394960" cy="2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Versão sem fio da rede LAN, baseada no padrão Wi-Fi.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291840" y="776691"/>
            <a:ext cx="5394960" cy="379476"/>
          </a:xfrm>
          <a:prstGeom prst="roundRect">
            <a:avLst>
              <a:gd fmla="val 240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3474720" y="868131"/>
            <a:ext cx="502920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Wi-Fi de uma casa conectando celulares, notebooks e TVs.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291840" y="1293327"/>
            <a:ext cx="5394960" cy="3141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3383280" y="1293327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4526280" y="1293327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Wi-Fi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3383280" y="1607515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Padrão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4526280" y="1607515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802.11: 802.11n (Wi-Fi 4), 802.11ac (Wi-Fi 5), 802.11ax (Wi-Fi 6 e 6E) e 802.11be (Wi-Fi 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91840" y="2126163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3383280" y="2126163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4526280" y="2126163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Transmissão por ondas de rádio, mobilidade dentro da área de cobertura, administração privada assim como a 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3383280" y="2644811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4526280" y="2644811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Estrela, com os dispositivos ligados a um access point central, ou MESH, com troca automática de access 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291840" y="3163458"/>
            <a:ext cx="5394960" cy="92756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3383280" y="3163458"/>
            <a:ext cx="114300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4526280" y="3163458"/>
            <a:ext cx="406908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Enfraquecimento por obstáculos como paredes; interferência de outras redes e aparelhos, principalmente em 2,4 GHz; velocidade e estabilidade inconstantes; desempenho cai conforme aumenta o número de dispositivos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N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endParaRPr sz="4000"/>
          </a:p>
        </p:txBody>
      </p:sp>
      <p:sp>
        <p:nvSpPr>
          <p:cNvPr id="234" name="Google Shape;234;p12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Cerca de 1 a 5 km, cobrindo um conjunto de prédios próximos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365760" y="41605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MENOR AO MAIOR ALCANCE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2"/>
          <p:cNvCxnSpPr/>
          <p:nvPr/>
        </p:nvCxnSpPr>
        <p:spPr>
          <a:xfrm>
            <a:off x="502920" y="4572000"/>
            <a:ext cx="2057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2"/>
          <p:cNvSpPr/>
          <p:nvPr/>
        </p:nvSpPr>
        <p:spPr>
          <a:xfrm>
            <a:off x="448056" y="45171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2743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859536" y="45171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68580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271016" y="45171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 txBox="1"/>
          <p:nvPr/>
        </p:nvSpPr>
        <p:spPr>
          <a:xfrm>
            <a:off x="109728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645920" y="4480560"/>
            <a:ext cx="182880" cy="18288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150876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093976" y="45171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 txBox="1"/>
          <p:nvPr/>
        </p:nvSpPr>
        <p:spPr>
          <a:xfrm>
            <a:off x="192024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2505456" y="45171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23317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3291840" y="411480"/>
            <a:ext cx="5394960" cy="5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 que interliga várias LANs dentro de uma área geográfica delimitada.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291840" y="1004743"/>
            <a:ext cx="5394960" cy="576072"/>
          </a:xfrm>
          <a:prstGeom prst="roundRect">
            <a:avLst>
              <a:gd fmla="val 1587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3474720" y="1096183"/>
            <a:ext cx="5029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um complexo hospitalar, onde um exame é feito em uma área do hospital, dentro de uma LAN, e enviado para um médico em outra área, em outra LAN.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291840" y="1717975"/>
            <a:ext cx="5394960" cy="3141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3383280" y="1717975"/>
            <a:ext cx="114300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4526280" y="1717975"/>
            <a:ext cx="4069080" cy="314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 (ligação entre prédios), Ethernet e Wi-Fi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3383280" y="2032163"/>
            <a:ext cx="114300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4526280" y="2032163"/>
            <a:ext cx="406908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taxa de transmissão (1 a 100 Gbps no backbone), administração privada, grande número de usuários e dispositivos, gerenciamento centralizado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291840" y="2755270"/>
            <a:ext cx="5394960" cy="92756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3383280" y="2755270"/>
            <a:ext cx="114300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4526280" y="2755270"/>
            <a:ext cx="406908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Predomina a hierarquia em três camadas (núcleo, distribuição e acesso), que funciona como estrela estendida. O backbone costuma ter redundâncias para continuar funcionando se um link cair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3383280" y="3682837"/>
            <a:ext cx="114300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4526280" y="3682837"/>
            <a:ext cx="406908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 alto de implantação e manutenção, equipe técnica especializada, cobertura restrita à área definida, segurança complexa pelo volume de usuários e dispositivos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N" id="273" name="Google Shape;2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</a:t>
            </a:r>
            <a:endParaRPr sz="4000"/>
          </a:p>
        </p:txBody>
      </p:sp>
      <p:sp>
        <p:nvSpPr>
          <p:cNvPr id="275" name="Google Shape;275;p13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Metropolitan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Cerca de 5 a 100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365760" y="41605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MENOR AO MAIOR ALCANCE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3"/>
          <p:cNvCxnSpPr/>
          <p:nvPr/>
        </p:nvCxnSpPr>
        <p:spPr>
          <a:xfrm>
            <a:off x="502920" y="4572000"/>
            <a:ext cx="2057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3"/>
          <p:cNvSpPr/>
          <p:nvPr/>
        </p:nvSpPr>
        <p:spPr>
          <a:xfrm>
            <a:off x="448056" y="4517136"/>
            <a:ext cx="109728" cy="10972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2743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859536" y="4517136"/>
            <a:ext cx="109728" cy="10972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68580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271016" y="4517136"/>
            <a:ext cx="109728" cy="10972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09728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682496" y="4517136"/>
            <a:ext cx="109728" cy="10972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150876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057400" y="4480560"/>
            <a:ext cx="182880" cy="18288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192024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2505456" y="4517136"/>
            <a:ext cx="109728" cy="10972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23317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3291840" y="411480"/>
            <a:ext cx="5394960" cy="5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 que cobre uma cidade ou região metropolitana e interliga várias LANs e CANs.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91840" y="1004743"/>
            <a:ext cx="5394960" cy="379476"/>
          </a:xfrm>
          <a:prstGeom prst="roundRect">
            <a:avLst>
              <a:gd fmla="val 240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3474720" y="1096183"/>
            <a:ext cx="502920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rede de um provedor de internet que atende uma cidade.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291840" y="1521379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3383280" y="1521379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4526280" y="1521379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Fibra óptica (FTTH/GPON), MPLS, DWDM, DOCSIS (rede de TV a cabo). Antigas, em desuso: FDDI, ATM, DQDB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3383280" y="2040026"/>
            <a:ext cx="114300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4526280" y="2040026"/>
            <a:ext cx="406908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Altíssima taxa de transmissão (centenas de Gbps no backbone), infraestrutura de operadora ou do poder público, latência maior que a de uma LAN, mas ainda muito baixa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3291840" y="2763134"/>
            <a:ext cx="5394960" cy="72310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3383280" y="2763134"/>
            <a:ext cx="114300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4526280" y="2763134"/>
            <a:ext cx="406908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Predomina o anel (RING) de fibra óptica, que garante redundância. Também se usa malha parcial no núcleo e estrela na distribuição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3383280" y="3486241"/>
            <a:ext cx="114300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4526280" y="3486241"/>
            <a:ext cx="406908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 alto de implantação, obras em vias públicas, dependência de operadoras, gerenciamento complexo, maior exposição a falhas físicas e risco de segurança quando a infraestrutura passa por terceiros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N" id="314" name="Google Shape;3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WAN</a:t>
            </a:r>
            <a:endParaRPr sz="4000"/>
          </a:p>
        </p:txBody>
      </p:sp>
      <p:sp>
        <p:nvSpPr>
          <p:cNvPr id="316" name="Google Shape;316;p14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Wide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Sem limites geográficos práticos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365760" y="416052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MENOR AO MAIOR ALCANCE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4"/>
          <p:cNvCxnSpPr/>
          <p:nvPr/>
        </p:nvCxnSpPr>
        <p:spPr>
          <a:xfrm>
            <a:off x="502920" y="4572000"/>
            <a:ext cx="2057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4"/>
          <p:cNvSpPr/>
          <p:nvPr/>
        </p:nvSpPr>
        <p:spPr>
          <a:xfrm>
            <a:off x="448056" y="45171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 txBox="1"/>
          <p:nvPr/>
        </p:nvSpPr>
        <p:spPr>
          <a:xfrm>
            <a:off x="2743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859536" y="45171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68580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1271016" y="45171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109728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1682496" y="45171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150876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2093976" y="45171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192024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2468880" y="4480560"/>
            <a:ext cx="182880" cy="18288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2331720" y="46908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3291840" y="411480"/>
            <a:ext cx="5394960" cy="5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 que cobre grandes áreas, interligando cidades, estados, países e continentes. É o tipo de rede de maior alcance.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291840" y="1004743"/>
            <a:ext cx="5394960" cy="379476"/>
          </a:xfrm>
          <a:prstGeom prst="roundRect">
            <a:avLst>
              <a:gd fmla="val 2409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3474720" y="1096183"/>
            <a:ext cx="502920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internet, que é a maior WAN do mundo.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3291840" y="1521379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3383280" y="1521379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4526280" y="1521379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Cabos submarinos, fibras DWDM, MPLS, linhas dedicadas, SD-WAN, 4G, 5G. Antigas: X.25, Frame Relay e ATM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3383280" y="2040026"/>
            <a:ext cx="114300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4526280" y="2040026"/>
            <a:ext cx="4069080" cy="723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Infraestrutura da operadora, com serviços contratados; latência maior que a de uma LAN, mas com backbones de centenas de Gbps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3291840" y="2763134"/>
            <a:ext cx="5394960" cy="5186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3383280" y="2763134"/>
            <a:ext cx="114300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4526280" y="2763134"/>
            <a:ext cx="4069080" cy="518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Predomina a malha (MESH), com vários caminhos alternativos entre os pontos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3383280" y="3281782"/>
            <a:ext cx="114300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4526280" y="3281782"/>
            <a:ext cx="406908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 alto; depende de acordos de nível de serviço (SLA); maior risco de segurança, pois os dados trafegam por infraestrutura pública, exigindo criptografia e VPN; sujeita à regulamentação de cada país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AN" id="355" name="Google Shape;3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SAN</a:t>
            </a:r>
            <a:endParaRPr sz="4000"/>
          </a:p>
        </p:txBody>
      </p:sp>
      <p:sp>
        <p:nvSpPr>
          <p:cNvPr id="357" name="Google Shape;357;p15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Storage Area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365760" y="2651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365760" y="2898648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Restrito a um data center, mas pode se estender por vários km para interligar dois data centers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Diferente das anteriores, a SAN não é definida pela área, e sim pelo transporte de dados de armazenamento com alta velocidade e confiabilidade.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3291840" y="411480"/>
            <a:ext cx="5394960" cy="5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 dedicada exclusivamente a interligar servidores e dispositivos de armazenamento de dados.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3291840" y="1004743"/>
            <a:ext cx="5394960" cy="576072"/>
          </a:xfrm>
          <a:prstGeom prst="roundRect">
            <a:avLst>
              <a:gd fmla="val 1587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3474720" y="1096183"/>
            <a:ext cx="5029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Exemplo: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os servidores de banco de dados de um data center que acessam os mesmos storages.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3291840" y="1717975"/>
            <a:ext cx="5394960" cy="92756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3383280" y="1717975"/>
            <a:ext cx="114300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4526280" y="1717975"/>
            <a:ext cx="4069080" cy="927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Fibre Channel (FC), a mais tradicional; iSCSI, que transporta comandos SCSI sobre redes IP/Ethernet; FCoE (Fibre Channel over Ethernet); NVMe over Fabrics, a mais recente e de menor latência. Meio físico predominante: fibra óptica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3383280" y="2645542"/>
            <a:ext cx="1143000" cy="1132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4526280" y="2645542"/>
            <a:ext cx="4069080" cy="1132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Acesso em nível de bloco (o servidor enxerga o armazenamento como um disco local); baixa latência; alta disponibilidade com caminhos redundantes (multipath); armazenamento centralizado e compartilhado; rede separada da LAN; facilidade para backup, replicação e expansão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 txBox="1"/>
          <p:nvPr/>
        </p:nvSpPr>
        <p:spPr>
          <a:xfrm>
            <a:off x="365760" y="320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 GEOGRÁFICO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365760" y="685800"/>
            <a:ext cx="658368" cy="65836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AN" id="378" name="Google Shape;3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850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6"/>
          <p:cNvSpPr txBox="1"/>
          <p:nvPr>
            <p:ph type="title"/>
          </p:nvPr>
        </p:nvSpPr>
        <p:spPr>
          <a:xfrm>
            <a:off x="365760" y="13716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SAN</a:t>
            </a:r>
            <a:endParaRPr sz="4000"/>
          </a:p>
        </p:txBody>
      </p:sp>
      <p:sp>
        <p:nvSpPr>
          <p:cNvPr id="380" name="Google Shape;380;p16"/>
          <p:cNvSpPr txBox="1"/>
          <p:nvPr/>
        </p:nvSpPr>
        <p:spPr>
          <a:xfrm>
            <a:off x="3657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Storage Area Network (continuação)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Diferente das anteriores, a SAN não é definida pela área, e sim pelo transporte de dados de armazenamento com alta velocidade e confiabilidade.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3291840" y="411480"/>
            <a:ext cx="5394960" cy="2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a SAN é organizada e quais são seus limites.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3291840" y="776691"/>
            <a:ext cx="5394960" cy="154094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3383280" y="776691"/>
            <a:ext cx="1143000" cy="1540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Topologia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4526280" y="776691"/>
            <a:ext cx="4069080" cy="1540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Predomina a comutada, chamada de fabric: servidores e storages se ligam a switches Fibre Channel. É comum usar dois fabrics independentes para redundância. Em ambientes maiores, usa-se o modelo core-edge, com switches centrais e de borda. Existem ainda a ponto a ponto (um servidor ligado direto a um storage) e a de laço arbitrado (FC-AL), hoje em desuso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3383280" y="2317638"/>
            <a:ext cx="1143000" cy="1336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4526280" y="2317638"/>
            <a:ext cx="4069080" cy="1336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 alto de equipamentos e implantação, principalmente em Fibre Channel; equipe especializada; gerenciamento complexo, com zoneamento e LUNs; possíveis incompatibilidades entre fabricantes; por concentrar os dados, uma falha ou invasão pode afetar muitos sistemas ao mesmo tempo, exigindo redundância e controle de acesso rigorosos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CLASSIFICAÇÃO POR TOPOLOGIA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 (STAR)</a:t>
            </a:r>
            <a:endParaRPr sz="2600"/>
          </a:p>
        </p:txBody>
      </p:sp>
      <p:sp>
        <p:nvSpPr>
          <p:cNvPr id="396" name="Google Shape;396;p17"/>
          <p:cNvSpPr/>
          <p:nvPr/>
        </p:nvSpPr>
        <p:spPr>
          <a:xfrm>
            <a:off x="457200" y="1188720"/>
            <a:ext cx="3246120" cy="3520440"/>
          </a:xfrm>
          <a:prstGeom prst="roundRect">
            <a:avLst>
              <a:gd fmla="val 28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7" name="Google Shape;397;p17"/>
          <p:cNvCxnSpPr/>
          <p:nvPr/>
        </p:nvCxnSpPr>
        <p:spPr>
          <a:xfrm>
            <a:off x="2080260" y="1554480"/>
            <a:ext cx="914" cy="7315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17"/>
          <p:cNvCxnSpPr/>
          <p:nvPr/>
        </p:nvCxnSpPr>
        <p:spPr>
          <a:xfrm flipH="1">
            <a:off x="2080260" y="1920240"/>
            <a:ext cx="633515" cy="36576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17"/>
          <p:cNvCxnSpPr/>
          <p:nvPr/>
        </p:nvCxnSpPr>
        <p:spPr>
          <a:xfrm>
            <a:off x="2080260" y="2286000"/>
            <a:ext cx="633515" cy="36576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7"/>
          <p:cNvCxnSpPr/>
          <p:nvPr/>
        </p:nvCxnSpPr>
        <p:spPr>
          <a:xfrm>
            <a:off x="2080260" y="2286000"/>
            <a:ext cx="914" cy="7315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7"/>
          <p:cNvCxnSpPr/>
          <p:nvPr/>
        </p:nvCxnSpPr>
        <p:spPr>
          <a:xfrm flipH="1">
            <a:off x="1446745" y="2286000"/>
            <a:ext cx="633515" cy="36576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7"/>
          <p:cNvCxnSpPr/>
          <p:nvPr/>
        </p:nvCxnSpPr>
        <p:spPr>
          <a:xfrm>
            <a:off x="1446745" y="1920240"/>
            <a:ext cx="633515" cy="36576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7"/>
          <p:cNvSpPr/>
          <p:nvPr/>
        </p:nvSpPr>
        <p:spPr>
          <a:xfrm>
            <a:off x="1860804" y="133502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04" name="Google Shape;4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310" y="145353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7"/>
          <p:cNvSpPr/>
          <p:nvPr/>
        </p:nvSpPr>
        <p:spPr>
          <a:xfrm>
            <a:off x="2494319" y="170078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06" name="Google Shape;4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825" y="181929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7"/>
          <p:cNvSpPr/>
          <p:nvPr/>
        </p:nvSpPr>
        <p:spPr>
          <a:xfrm>
            <a:off x="2494319" y="243230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08" name="Google Shape;4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825" y="255081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7"/>
          <p:cNvSpPr/>
          <p:nvPr/>
        </p:nvSpPr>
        <p:spPr>
          <a:xfrm>
            <a:off x="1860804" y="279806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10" name="Google Shape;4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310" y="291657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7"/>
          <p:cNvSpPr/>
          <p:nvPr/>
        </p:nvSpPr>
        <p:spPr>
          <a:xfrm>
            <a:off x="1227289" y="243230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12" name="Google Shape;4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5795" y="255081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7"/>
          <p:cNvSpPr/>
          <p:nvPr/>
        </p:nvSpPr>
        <p:spPr>
          <a:xfrm>
            <a:off x="1227289" y="170078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14" name="Google Shape;4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5795" y="181929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7"/>
          <p:cNvSpPr/>
          <p:nvPr/>
        </p:nvSpPr>
        <p:spPr>
          <a:xfrm>
            <a:off x="1737360" y="194310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witch central" id="416" name="Google Shape;4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2526" y="212826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7"/>
          <p:cNvSpPr txBox="1"/>
          <p:nvPr/>
        </p:nvSpPr>
        <p:spPr>
          <a:xfrm>
            <a:off x="640080" y="3291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Todos ligados a um ponto central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640080" y="36118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640080" y="3858768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Computadores de um escritório ligados a um switch; aparelhos de casa ligados ao roteador; dispositivos Wi-Fi conectados a um access point.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3977640" y="1188720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3977640" y="1435608"/>
            <a:ext cx="4709160" cy="872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um dispositivo envia dados, eles vão até o ponto central, que os encaminha ao destino. Com switch, o quadro vai apenas para a porta do destinatário; com hub, era repetido para todas as portas.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3977640" y="2399751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3977640" y="2646639"/>
            <a:ext cx="4709160" cy="66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Ethernet (IEEE 802.3) com cabo de par trançado e conector RJ-45, ou fibra óptica; em redes sem fio, o access point faz o papel de centro.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3977640" y="3406323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EQUIPAMENTOS TÍPICOS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3977640" y="3653211"/>
            <a:ext cx="4709160" cy="46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Switch, hub (obsoleto), roteador ou access point como nó central, além das placas de rede e do cabeamento.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CLASSIFICAÇÃO POR TOPOLOGIA · ESTRELA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Características, vantagens e limitações</a:t>
            </a:r>
            <a:endParaRPr sz="2600"/>
          </a:p>
        </p:txBody>
      </p:sp>
      <p:sp>
        <p:nvSpPr>
          <p:cNvPr id="434" name="Google Shape;434;p18"/>
          <p:cNvSpPr/>
          <p:nvPr/>
        </p:nvSpPr>
        <p:spPr>
          <a:xfrm>
            <a:off x="45720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Características" id="436" name="Google Shape;4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8"/>
          <p:cNvSpPr txBox="1"/>
          <p:nvPr/>
        </p:nvSpPr>
        <p:spPr>
          <a:xfrm>
            <a:off x="105156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64008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Ligação ponto a ponto entre cada dispositivo e o centro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Gerenciamento centralizado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 enlace é independente dos demais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 switch, cada porta é um domínio de colisão separado, permitindo comunicação full-duplex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326898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3406140" y="1325880"/>
            <a:ext cx="365760" cy="36576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Vantagens" id="441" name="Google Shape;4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123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8"/>
          <p:cNvSpPr txBox="1"/>
          <p:nvPr/>
        </p:nvSpPr>
        <p:spPr>
          <a:xfrm>
            <a:off x="386334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 txBox="1"/>
          <p:nvPr/>
        </p:nvSpPr>
        <p:spPr>
          <a:xfrm>
            <a:off x="345186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falha de um cabo ou dispositivo afeta só aquele ponto, sem derrubar o resto da rede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 fácil adicionar ou remover dispositivos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localização de defeitos é simples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desempenho é bom, já que não há disputa pelo mesmo cabo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608076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Limitações" id="446" name="Google Shape;4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01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8"/>
          <p:cNvSpPr txBox="1"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626364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nó central é um ponto único de falha: se ele parar, toda a rede para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Consome mais cabo que o barramento ou o anel, pois cada dispositivo precisa de um cabo próprio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número de dispositivos é limitado pelas portas do equipamento central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comprimento de cada cabo é limitado (100 m no par trançado)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desempenho depende da capacidade do equipamento central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CLASSIFICAÇÃO POR TOPOLOGIA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Barramento (BUS)</a:t>
            </a:r>
            <a:endParaRPr sz="2600"/>
          </a:p>
        </p:txBody>
      </p:sp>
      <p:sp>
        <p:nvSpPr>
          <p:cNvPr id="457" name="Google Shape;457;p19"/>
          <p:cNvSpPr/>
          <p:nvPr/>
        </p:nvSpPr>
        <p:spPr>
          <a:xfrm>
            <a:off x="457200" y="1188720"/>
            <a:ext cx="3246120" cy="3520440"/>
          </a:xfrm>
          <a:prstGeom prst="roundRect">
            <a:avLst>
              <a:gd fmla="val 28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8" name="Google Shape;458;p19"/>
          <p:cNvCxnSpPr/>
          <p:nvPr/>
        </p:nvCxnSpPr>
        <p:spPr>
          <a:xfrm>
            <a:off x="777240" y="2286000"/>
            <a:ext cx="2606040" cy="0"/>
          </a:xfrm>
          <a:prstGeom prst="straightConnector1">
            <a:avLst/>
          </a:prstGeom>
          <a:noFill/>
          <a:ln cap="flat" cmpd="sng" w="508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9"/>
          <p:cNvSpPr/>
          <p:nvPr/>
        </p:nvSpPr>
        <p:spPr>
          <a:xfrm>
            <a:off x="722376" y="2148840"/>
            <a:ext cx="109728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3328416" y="2148840"/>
            <a:ext cx="109728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1" name="Google Shape;461;p19"/>
          <p:cNvCxnSpPr/>
          <p:nvPr/>
        </p:nvCxnSpPr>
        <p:spPr>
          <a:xfrm>
            <a:off x="1211580" y="1508760"/>
            <a:ext cx="914" cy="77724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9"/>
          <p:cNvSpPr/>
          <p:nvPr/>
        </p:nvSpPr>
        <p:spPr>
          <a:xfrm>
            <a:off x="992124" y="128930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63" name="Google Shape;4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630" y="1407810"/>
            <a:ext cx="201900" cy="201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p19"/>
          <p:cNvCxnSpPr/>
          <p:nvPr/>
        </p:nvCxnSpPr>
        <p:spPr>
          <a:xfrm>
            <a:off x="1645920" y="2286000"/>
            <a:ext cx="914" cy="77724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19"/>
          <p:cNvSpPr/>
          <p:nvPr/>
        </p:nvSpPr>
        <p:spPr>
          <a:xfrm>
            <a:off x="1426464" y="284378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66" name="Google Shape;4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970" y="2962290"/>
            <a:ext cx="201900" cy="201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19"/>
          <p:cNvCxnSpPr/>
          <p:nvPr/>
        </p:nvCxnSpPr>
        <p:spPr>
          <a:xfrm>
            <a:off x="2080260" y="1508760"/>
            <a:ext cx="914" cy="77724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9"/>
          <p:cNvSpPr/>
          <p:nvPr/>
        </p:nvSpPr>
        <p:spPr>
          <a:xfrm>
            <a:off x="1860804" y="128930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69" name="Google Shape;4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310" y="1407810"/>
            <a:ext cx="201900" cy="201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" name="Google Shape;470;p19"/>
          <p:cNvCxnSpPr/>
          <p:nvPr/>
        </p:nvCxnSpPr>
        <p:spPr>
          <a:xfrm>
            <a:off x="2514600" y="2286000"/>
            <a:ext cx="914" cy="77724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19"/>
          <p:cNvSpPr/>
          <p:nvPr/>
        </p:nvSpPr>
        <p:spPr>
          <a:xfrm>
            <a:off x="2295144" y="284378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72" name="Google Shape;4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650" y="2962290"/>
            <a:ext cx="201900" cy="201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19"/>
          <p:cNvCxnSpPr/>
          <p:nvPr/>
        </p:nvCxnSpPr>
        <p:spPr>
          <a:xfrm>
            <a:off x="2948940" y="1508760"/>
            <a:ext cx="914" cy="77724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9"/>
          <p:cNvSpPr/>
          <p:nvPr/>
        </p:nvSpPr>
        <p:spPr>
          <a:xfrm>
            <a:off x="2729484" y="128930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475" name="Google Shape;4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7990" y="1407810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 txBox="1"/>
          <p:nvPr/>
        </p:nvSpPr>
        <p:spPr>
          <a:xfrm>
            <a:off x="594360" y="24688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terminador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640080" y="3291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Todos ligados ao mesmo cabo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640080" y="36118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640080" y="3858768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Antigas redes Ethernet com cabo coaxial (10BASE2 e 10BASE5); redes de TV a cabo no trecho coaxial; barramento CAN em veículos e automação industrial.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 txBox="1"/>
          <p:nvPr/>
        </p:nvSpPr>
        <p:spPr>
          <a:xfrm>
            <a:off x="3977640" y="1188720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3977640" y="1435608"/>
            <a:ext cx="4709160" cy="872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um dispositivo transmite, o sinal percorre todo o cabo nos dois sentidos e chega a todos, mas só o destinatário aceita os dados; os demais descartam. Apenas um dispositivo pode transmitir por vez.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3977640" y="2399751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 txBox="1"/>
          <p:nvPr/>
        </p:nvSpPr>
        <p:spPr>
          <a:xfrm>
            <a:off x="3977640" y="2646639"/>
            <a:ext cx="4709160" cy="66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Ethernet clássica com cabo coaxial, usando o método de acesso CSMA/CD: o dispositivo escuta o meio antes de transmitir e, se houver colisão, espera um tempo aleatório e tenta de novo.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 txBox="1"/>
          <p:nvPr/>
        </p:nvSpPr>
        <p:spPr>
          <a:xfrm>
            <a:off x="3977640" y="3406323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EQUIPAMENTOS TÍPICOS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3977640" y="3653211"/>
            <a:ext cx="4709160" cy="66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Cabo coaxial, conectores BNC e conectores em T para ligar cada dispositivo, e terminadores nas duas pontas do cabo, que absorvem o sinal e evitam que ele reflita de volta.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CLASSIFICAÇÃO POR TOPOLOGIA · BARRAMENTO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Características, vantagens e limitações</a:t>
            </a:r>
            <a:endParaRPr sz="2600"/>
          </a:p>
        </p:txBody>
      </p:sp>
      <p:sp>
        <p:nvSpPr>
          <p:cNvPr id="494" name="Google Shape;494;p20"/>
          <p:cNvSpPr/>
          <p:nvPr/>
        </p:nvSpPr>
        <p:spPr>
          <a:xfrm>
            <a:off x="45720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Características" id="496" name="Google Shape;4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0"/>
          <p:cNvSpPr txBox="1"/>
          <p:nvPr/>
        </p:nvSpPr>
        <p:spPr>
          <a:xfrm>
            <a:off x="105156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 txBox="1"/>
          <p:nvPr/>
        </p:nvSpPr>
        <p:spPr>
          <a:xfrm>
            <a:off x="64008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Meio de transmissão compartilhado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Comunicação por difusão (broadcast)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Um único domínio de colisão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Comunicação half-duplex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Não há equipamento central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Dispositivos passivos, ou seja, não regeneram o sinal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326898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3406140" y="1325880"/>
            <a:ext cx="365760" cy="36576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Vantagens" id="501" name="Google Shape;5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123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0"/>
          <p:cNvSpPr txBox="1"/>
          <p:nvPr/>
        </p:nvSpPr>
        <p:spPr>
          <a:xfrm>
            <a:off x="386334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345186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Baixo custo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Instalação simples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Usa pouco cabo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Não depende de equipamento central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Fácil de montar em redes pequenas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608076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Limitações" id="506" name="Google Shape;5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01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0"/>
          <p:cNvSpPr txBox="1"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 txBox="1"/>
          <p:nvPr/>
        </p:nvSpPr>
        <p:spPr>
          <a:xfrm>
            <a:off x="626364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cabo principal é um ponto único de falha: se ele se romper ou um terminador falhar, toda a rede para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 difícil localizar defeitos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desempenho cai com mais dispositivos e tráfego, por causa das colisões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Comprimento do cabo e número de dispositivos limitados (185 m por segmento no 10BASE2 e 500 m no 10BASE5)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Segurança baixa, pois todos recebem todos os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expansão pode exigir interromper a rede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CLASSIFICAÇÃO POR TOPOLOGIA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Anel (RING)</a:t>
            </a:r>
            <a:endParaRPr sz="2600"/>
          </a:p>
        </p:txBody>
      </p:sp>
      <p:sp>
        <p:nvSpPr>
          <p:cNvPr id="517" name="Google Shape;517;p21"/>
          <p:cNvSpPr/>
          <p:nvPr/>
        </p:nvSpPr>
        <p:spPr>
          <a:xfrm>
            <a:off x="457200" y="1188720"/>
            <a:ext cx="3246120" cy="3520440"/>
          </a:xfrm>
          <a:prstGeom prst="roundRect">
            <a:avLst>
              <a:gd fmla="val 28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8" name="Google Shape;518;p21"/>
          <p:cNvCxnSpPr/>
          <p:nvPr/>
        </p:nvCxnSpPr>
        <p:spPr>
          <a:xfrm>
            <a:off x="2080260" y="1600200"/>
            <a:ext cx="593920" cy="342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21"/>
          <p:cNvCxnSpPr/>
          <p:nvPr/>
        </p:nvCxnSpPr>
        <p:spPr>
          <a:xfrm>
            <a:off x="2674180" y="1943100"/>
            <a:ext cx="914" cy="685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21"/>
          <p:cNvCxnSpPr/>
          <p:nvPr/>
        </p:nvCxnSpPr>
        <p:spPr>
          <a:xfrm flipH="1">
            <a:off x="2080260" y="2628900"/>
            <a:ext cx="593920" cy="342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21"/>
          <p:cNvCxnSpPr/>
          <p:nvPr/>
        </p:nvCxnSpPr>
        <p:spPr>
          <a:xfrm>
            <a:off x="1486340" y="2628900"/>
            <a:ext cx="593920" cy="342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21"/>
          <p:cNvCxnSpPr/>
          <p:nvPr/>
        </p:nvCxnSpPr>
        <p:spPr>
          <a:xfrm>
            <a:off x="1486340" y="1943100"/>
            <a:ext cx="914" cy="685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21"/>
          <p:cNvCxnSpPr/>
          <p:nvPr/>
        </p:nvCxnSpPr>
        <p:spPr>
          <a:xfrm flipH="1">
            <a:off x="1486340" y="1600200"/>
            <a:ext cx="593920" cy="342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1"/>
          <p:cNvSpPr/>
          <p:nvPr/>
        </p:nvSpPr>
        <p:spPr>
          <a:xfrm>
            <a:off x="1851660" y="137160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525" name="Google Shape;5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5104" y="14950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1"/>
          <p:cNvSpPr/>
          <p:nvPr/>
        </p:nvSpPr>
        <p:spPr>
          <a:xfrm>
            <a:off x="2445580" y="171450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527" name="Google Shape;5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9024" y="18379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1"/>
          <p:cNvSpPr/>
          <p:nvPr/>
        </p:nvSpPr>
        <p:spPr>
          <a:xfrm>
            <a:off x="2445580" y="240030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529" name="Google Shape;5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9024" y="25237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1"/>
          <p:cNvSpPr/>
          <p:nvPr/>
        </p:nvSpPr>
        <p:spPr>
          <a:xfrm>
            <a:off x="1851660" y="274320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531" name="Google Shape;5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5104" y="28666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1"/>
          <p:cNvSpPr/>
          <p:nvPr/>
        </p:nvSpPr>
        <p:spPr>
          <a:xfrm>
            <a:off x="1257740" y="240030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533" name="Google Shape;5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84" y="25237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1"/>
          <p:cNvSpPr/>
          <p:nvPr/>
        </p:nvSpPr>
        <p:spPr>
          <a:xfrm>
            <a:off x="1257740" y="171450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535" name="Google Shape;5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84" y="18379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1"/>
          <p:cNvSpPr/>
          <p:nvPr/>
        </p:nvSpPr>
        <p:spPr>
          <a:xfrm>
            <a:off x="1577340" y="2103120"/>
            <a:ext cx="1005840" cy="36576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1577340" y="21031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token 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640080" y="3291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Os dados circulam de nó em nó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 txBox="1"/>
          <p:nvPr/>
        </p:nvSpPr>
        <p:spPr>
          <a:xfrm>
            <a:off x="640080" y="36118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 txBox="1"/>
          <p:nvPr/>
        </p:nvSpPr>
        <p:spPr>
          <a:xfrm>
            <a:off x="640080" y="3858768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Antigas redes Token Ring da IBM (IEEE 802.5); redes FDDI em fibra óptica; anéis SDH/SONET de operadoras; anéis de fibra das redes metropolitanas (MAN).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/>
          <p:nvPr/>
        </p:nvSpPr>
        <p:spPr>
          <a:xfrm>
            <a:off x="3977640" y="1188720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3977640" y="1435608"/>
            <a:ext cx="4709160" cy="10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passam de dispositivo em dispositivo, normalmente em um único sentido. Cada um recebe o sinal, verifica se é o destinatário e, se não for, regenera e repassa ao próximo. O controle clássico é a passagem de token: um quadro especial circula pelo anel, e só quem está com o token pode transmitir.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 txBox="1"/>
          <p:nvPr/>
        </p:nvSpPr>
        <p:spPr>
          <a:xfrm>
            <a:off x="3977640" y="2604211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 txBox="1"/>
          <p:nvPr/>
        </p:nvSpPr>
        <p:spPr>
          <a:xfrm>
            <a:off x="3977640" y="2851099"/>
            <a:ext cx="4709160" cy="66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Token Ring (IEEE 802.5), com 4 ou 16 Mbps; FDDI, com 100 Mbps em fibra e anel duplo; SDH/SONET e anéis Metro Ethernet em redes de operadoras.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 txBox="1"/>
          <p:nvPr/>
        </p:nvSpPr>
        <p:spPr>
          <a:xfrm>
            <a:off x="3977640" y="3610783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EQUIPAMENTOS TÍPICOS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 txBox="1"/>
          <p:nvPr/>
        </p:nvSpPr>
        <p:spPr>
          <a:xfrm>
            <a:off x="3977640" y="3857671"/>
            <a:ext cx="4709160" cy="66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Placas de rede Token Ring, cabos de par trançado ou fibra óptica e a MAU (Multistation Access Unit), concentrador ao qual os dispositivos do Token Ring se ligavam.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2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CLASSIFICAÇÃO POR TOPOLOGIA · ANEL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Características, vantagens e limitações</a:t>
            </a:r>
            <a:endParaRPr sz="2600"/>
          </a:p>
        </p:txBody>
      </p:sp>
      <p:sp>
        <p:nvSpPr>
          <p:cNvPr id="555" name="Google Shape;555;p22"/>
          <p:cNvSpPr/>
          <p:nvPr/>
        </p:nvSpPr>
        <p:spPr>
          <a:xfrm>
            <a:off x="45720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Características" id="557" name="Google Shape;5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2"/>
          <p:cNvSpPr txBox="1"/>
          <p:nvPr/>
        </p:nvSpPr>
        <p:spPr>
          <a:xfrm>
            <a:off x="105156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64008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Não há equipamento central obrigatório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 dispositivo atua como repetidor, regenerando o sinal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ao meio determinístico: cada dispositivo tem sua vez garantida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Não ocorrem colisões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tempo máximo de espera para transmitir é previsível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326898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3406140" y="1325880"/>
            <a:ext cx="365760" cy="36576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Vantagens" id="562" name="Google Shape;5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123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2"/>
          <p:cNvSpPr txBox="1"/>
          <p:nvPr/>
        </p:nvSpPr>
        <p:spPr>
          <a:xfrm>
            <a:off x="386334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 txBox="1"/>
          <p:nvPr/>
        </p:nvSpPr>
        <p:spPr>
          <a:xfrm>
            <a:off x="345186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Desempenho estável mesmo com tráfego intenso, já que não há colisões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Todos têm acesso igualitário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regeneração do sinal em cada ponto permite cobrir distâncias maiores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Adequada a aplicações que exigem tempo de resposta previsível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608076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Limitações" id="567" name="Google Shape;5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01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2"/>
          <p:cNvSpPr txBox="1"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 txBox="1"/>
          <p:nvPr/>
        </p:nvSpPr>
        <p:spPr>
          <a:xfrm>
            <a:off x="626364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anel simples, a falha de um dispositivo ou cabo interrompe toda a rede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Adicionar ou remover dispositivos pode exigir parar o anel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localização de defeitos é difícil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atraso cresce com o número de dispositivos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Os equipamentos eram mais caros que os de Ethernet, o que contribuiu para o abandono em redes locais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2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3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CLASSIFICAÇÃO POR TOPOLOGIA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Malha (MESH)</a:t>
            </a:r>
            <a:endParaRPr sz="2600"/>
          </a:p>
        </p:txBody>
      </p:sp>
      <p:sp>
        <p:nvSpPr>
          <p:cNvPr id="578" name="Google Shape;578;p23"/>
          <p:cNvSpPr/>
          <p:nvPr/>
        </p:nvSpPr>
        <p:spPr>
          <a:xfrm>
            <a:off x="457200" y="1188720"/>
            <a:ext cx="3246120" cy="3520440"/>
          </a:xfrm>
          <a:prstGeom prst="roundRect">
            <a:avLst>
              <a:gd fmla="val 28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9" name="Google Shape;579;p23"/>
          <p:cNvCxnSpPr/>
          <p:nvPr/>
        </p:nvCxnSpPr>
        <p:spPr>
          <a:xfrm>
            <a:off x="2080260" y="1600200"/>
            <a:ext cx="695717" cy="505468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23"/>
          <p:cNvCxnSpPr/>
          <p:nvPr/>
        </p:nvCxnSpPr>
        <p:spPr>
          <a:xfrm>
            <a:off x="2080260" y="1600200"/>
            <a:ext cx="429977" cy="1323332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23"/>
          <p:cNvCxnSpPr/>
          <p:nvPr/>
        </p:nvCxnSpPr>
        <p:spPr>
          <a:xfrm flipH="1">
            <a:off x="1650283" y="1600200"/>
            <a:ext cx="429977" cy="1323332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3"/>
          <p:cNvCxnSpPr/>
          <p:nvPr/>
        </p:nvCxnSpPr>
        <p:spPr>
          <a:xfrm flipH="1">
            <a:off x="1384543" y="1600200"/>
            <a:ext cx="695717" cy="505468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3"/>
          <p:cNvCxnSpPr/>
          <p:nvPr/>
        </p:nvCxnSpPr>
        <p:spPr>
          <a:xfrm flipH="1">
            <a:off x="2510237" y="2105668"/>
            <a:ext cx="265740" cy="817864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23"/>
          <p:cNvCxnSpPr/>
          <p:nvPr/>
        </p:nvCxnSpPr>
        <p:spPr>
          <a:xfrm flipH="1">
            <a:off x="1650283" y="2105668"/>
            <a:ext cx="1125694" cy="817864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3"/>
          <p:cNvCxnSpPr/>
          <p:nvPr/>
        </p:nvCxnSpPr>
        <p:spPr>
          <a:xfrm flipH="1">
            <a:off x="1384543" y="2105668"/>
            <a:ext cx="1391434" cy="914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23"/>
          <p:cNvCxnSpPr/>
          <p:nvPr/>
        </p:nvCxnSpPr>
        <p:spPr>
          <a:xfrm>
            <a:off x="1650283" y="2923532"/>
            <a:ext cx="859953" cy="914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23"/>
          <p:cNvCxnSpPr/>
          <p:nvPr/>
        </p:nvCxnSpPr>
        <p:spPr>
          <a:xfrm>
            <a:off x="1384543" y="2105668"/>
            <a:ext cx="1125694" cy="817864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23"/>
          <p:cNvCxnSpPr/>
          <p:nvPr/>
        </p:nvCxnSpPr>
        <p:spPr>
          <a:xfrm>
            <a:off x="1384543" y="2105668"/>
            <a:ext cx="265740" cy="817864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p23"/>
          <p:cNvSpPr/>
          <p:nvPr/>
        </p:nvSpPr>
        <p:spPr>
          <a:xfrm>
            <a:off x="1842516" y="1362456"/>
            <a:ext cx="475488" cy="47548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ó" id="590" name="Google Shape;5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0898" y="1490838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/>
          <p:nvPr/>
        </p:nvSpPr>
        <p:spPr>
          <a:xfrm>
            <a:off x="2538233" y="1867924"/>
            <a:ext cx="475488" cy="47548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ó" id="592" name="Google Shape;5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6615" y="199630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3"/>
          <p:cNvSpPr/>
          <p:nvPr/>
        </p:nvSpPr>
        <p:spPr>
          <a:xfrm>
            <a:off x="2272493" y="2685788"/>
            <a:ext cx="475488" cy="47548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ó" id="594" name="Google Shape;5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874" y="281417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3"/>
          <p:cNvSpPr/>
          <p:nvPr/>
        </p:nvSpPr>
        <p:spPr>
          <a:xfrm>
            <a:off x="1412539" y="2685788"/>
            <a:ext cx="475488" cy="47548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ó" id="596" name="Google Shape;5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0921" y="281417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3"/>
          <p:cNvSpPr/>
          <p:nvPr/>
        </p:nvSpPr>
        <p:spPr>
          <a:xfrm>
            <a:off x="1146799" y="1867924"/>
            <a:ext cx="475488" cy="47548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ó" id="598" name="Google Shape;5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181" y="199630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3"/>
          <p:cNvSpPr txBox="1"/>
          <p:nvPr/>
        </p:nvSpPr>
        <p:spPr>
          <a:xfrm>
            <a:off x="640080" y="3291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Vários caminhos entre os pontos (malha completa)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 txBox="1"/>
          <p:nvPr/>
        </p:nvSpPr>
        <p:spPr>
          <a:xfrm>
            <a:off x="640080" y="36118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 txBox="1"/>
          <p:nvPr/>
        </p:nvSpPr>
        <p:spPr>
          <a:xfrm>
            <a:off x="640080" y="3858768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internet; backbones de operadoras e WANs corporativas; sistemas Wi-Fi mesh residenciais; redes de sensores com Zigbee e Thread.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 txBox="1"/>
          <p:nvPr/>
        </p:nvSpPr>
        <p:spPr>
          <a:xfrm>
            <a:off x="3977640" y="1188720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3977640" y="1435608"/>
            <a:ext cx="4709160" cy="57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podem seguir por diferentes caminhos. A escolha é feita por roteamento (a melhor rota) ou por inundação (flooding), repassando a todos os vizinhos. Se um enlace falha, o tráfego é desviado automaticamente.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 txBox="1"/>
          <p:nvPr/>
        </p:nvSpPr>
        <p:spPr>
          <a:xfrm>
            <a:off x="3977640" y="2100925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TIPOS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3977640" y="2347813"/>
            <a:ext cx="4709160" cy="74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Malha completa (full mesh): cada dispositivo se liga a todos os outros; são n(n-1)/2 enlaces, ou seja, 10 dispositivos exigem 45. Malha parcial (partial mesh): só alguns dispositivos, normalmente os mais críticos, têm várias ligações; é a mais usada na prática.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 txBox="1"/>
          <p:nvPr/>
        </p:nvSpPr>
        <p:spPr>
          <a:xfrm>
            <a:off x="3977640" y="3186135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3977640" y="3433023"/>
            <a:ext cx="4709160" cy="40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 fio: fibra óptica entre roteadores, com OSPF, BGP e MPLS nas operadoras. Sem fio: Wi-Fi mesh (IEEE 802.11s), Zigbee, Thread e Bluetooth Mesh.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3977640" y="3925336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EQUIPAMENTOS TÍPICOS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3977640" y="4172224"/>
            <a:ext cx="4709160" cy="40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Roteadores e switches de camada 3 com várias interfaces, enlaces de fibra e, sem fio, access points ou nós mesh.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CLASSIFICAÇÃO POR TOPOLOGIA · MALHA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Características, vantagens e limitações</a:t>
            </a:r>
            <a:endParaRPr sz="2600"/>
          </a:p>
        </p:txBody>
      </p:sp>
      <p:sp>
        <p:nvSpPr>
          <p:cNvPr id="618" name="Google Shape;618;p24"/>
          <p:cNvSpPr/>
          <p:nvPr/>
        </p:nvSpPr>
        <p:spPr>
          <a:xfrm>
            <a:off x="45720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Características" id="620" name="Google Shape;6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4"/>
          <p:cNvSpPr txBox="1"/>
          <p:nvPr/>
        </p:nvSpPr>
        <p:spPr>
          <a:xfrm>
            <a:off x="105156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 txBox="1"/>
          <p:nvPr/>
        </p:nvSpPr>
        <p:spPr>
          <a:xfrm>
            <a:off x="64008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Múltiplos caminhos entre os pontos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Ausência de nó central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Enlaces ponto a ponto dedicados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Alta tolerância a falhas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Capacidade de se reorganizar sozinha quando um nó ou enlace cai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Possibilidade de distribuir o tráfego entre vários caminhos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326898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3406140" y="1325880"/>
            <a:ext cx="365760" cy="36576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Vantagens" id="625" name="Google Shape;6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123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4"/>
          <p:cNvSpPr txBox="1"/>
          <p:nvPr/>
        </p:nvSpPr>
        <p:spPr>
          <a:xfrm>
            <a:off x="386334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 txBox="1"/>
          <p:nvPr/>
        </p:nvSpPr>
        <p:spPr>
          <a:xfrm>
            <a:off x="345186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Alta disponibilidade e confiabilidade, sem ponto único de falha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falha de um enlace não interrompe a rede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Bom desempenho, pois o tráfego não se concentra em um caminho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Facilidade para isolar defeitos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Sem fio, amplia a cobertura sem cabear cada ponto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608076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Limitações" id="630" name="Google Shape;6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01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4"/>
          <p:cNvSpPr txBox="1"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 txBox="1"/>
          <p:nvPr/>
        </p:nvSpPr>
        <p:spPr>
          <a:xfrm>
            <a:off x="626364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Custo alto, pela quantidade de enlaces e interfaces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Instalação e configuração complexas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Na malha completa, o número de ligações cresce muito rápido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Gerenciamento mais difícil, exigindo protocolos de roteamento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Enlaces redundantes podem ficar ociosos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mesh sem fio, a velocidade cai a cada salto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5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CLASSIFICAÇÃO POR TOPOLOGIA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Comutada (SWITCHED)</a:t>
            </a:r>
            <a:endParaRPr sz="2600"/>
          </a:p>
        </p:txBody>
      </p:sp>
      <p:sp>
        <p:nvSpPr>
          <p:cNvPr id="641" name="Google Shape;641;p25"/>
          <p:cNvSpPr/>
          <p:nvPr/>
        </p:nvSpPr>
        <p:spPr>
          <a:xfrm>
            <a:off x="457200" y="1188720"/>
            <a:ext cx="3246120" cy="3520440"/>
          </a:xfrm>
          <a:prstGeom prst="roundRect">
            <a:avLst>
              <a:gd fmla="val 28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2" name="Google Shape;642;p25"/>
          <p:cNvCxnSpPr/>
          <p:nvPr/>
        </p:nvCxnSpPr>
        <p:spPr>
          <a:xfrm>
            <a:off x="1467612" y="2286000"/>
            <a:ext cx="1286561" cy="914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25"/>
          <p:cNvCxnSpPr/>
          <p:nvPr/>
        </p:nvCxnSpPr>
        <p:spPr>
          <a:xfrm>
            <a:off x="1101852" y="1572768"/>
            <a:ext cx="365760" cy="713232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25"/>
          <p:cNvSpPr/>
          <p:nvPr/>
        </p:nvSpPr>
        <p:spPr>
          <a:xfrm>
            <a:off x="891540" y="1362456"/>
            <a:ext cx="420624" cy="420624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645" name="Google Shape;6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108" y="1476024"/>
            <a:ext cx="193487" cy="19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6" name="Google Shape;646;p25"/>
          <p:cNvCxnSpPr/>
          <p:nvPr/>
        </p:nvCxnSpPr>
        <p:spPr>
          <a:xfrm>
            <a:off x="690372" y="2286000"/>
            <a:ext cx="777240" cy="914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25"/>
          <p:cNvSpPr/>
          <p:nvPr/>
        </p:nvSpPr>
        <p:spPr>
          <a:xfrm>
            <a:off x="480060" y="2075688"/>
            <a:ext cx="420624" cy="420624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648" name="Google Shape;6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628" y="2189256"/>
            <a:ext cx="193487" cy="19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9" name="Google Shape;649;p25"/>
          <p:cNvCxnSpPr/>
          <p:nvPr/>
        </p:nvCxnSpPr>
        <p:spPr>
          <a:xfrm flipH="1">
            <a:off x="1101852" y="2286000"/>
            <a:ext cx="365760" cy="713232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p25"/>
          <p:cNvSpPr/>
          <p:nvPr/>
        </p:nvSpPr>
        <p:spPr>
          <a:xfrm>
            <a:off x="891540" y="2788920"/>
            <a:ext cx="420624" cy="420624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651" name="Google Shape;6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108" y="2902488"/>
            <a:ext cx="193487" cy="19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2" name="Google Shape;652;p25"/>
          <p:cNvCxnSpPr/>
          <p:nvPr/>
        </p:nvCxnSpPr>
        <p:spPr>
          <a:xfrm flipH="1">
            <a:off x="2754173" y="1572768"/>
            <a:ext cx="365760" cy="713232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25"/>
          <p:cNvSpPr/>
          <p:nvPr/>
        </p:nvSpPr>
        <p:spPr>
          <a:xfrm>
            <a:off x="2909621" y="1362456"/>
            <a:ext cx="420624" cy="420624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654" name="Google Shape;6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189" y="1476024"/>
            <a:ext cx="193487" cy="19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5" name="Google Shape;655;p25"/>
          <p:cNvCxnSpPr/>
          <p:nvPr/>
        </p:nvCxnSpPr>
        <p:spPr>
          <a:xfrm>
            <a:off x="2754173" y="2286000"/>
            <a:ext cx="777240" cy="914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25"/>
          <p:cNvSpPr/>
          <p:nvPr/>
        </p:nvSpPr>
        <p:spPr>
          <a:xfrm>
            <a:off x="3321101" y="2075688"/>
            <a:ext cx="420624" cy="420624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657" name="Google Shape;6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4669" y="2189256"/>
            <a:ext cx="193487" cy="19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8" name="Google Shape;658;p25"/>
          <p:cNvCxnSpPr/>
          <p:nvPr/>
        </p:nvCxnSpPr>
        <p:spPr>
          <a:xfrm>
            <a:off x="2754173" y="2286000"/>
            <a:ext cx="365760" cy="713232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25"/>
          <p:cNvSpPr/>
          <p:nvPr/>
        </p:nvSpPr>
        <p:spPr>
          <a:xfrm>
            <a:off x="2909621" y="2788920"/>
            <a:ext cx="420624" cy="420624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spositivo" id="660" name="Google Shape;6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189" y="2902488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5"/>
          <p:cNvSpPr/>
          <p:nvPr/>
        </p:nvSpPr>
        <p:spPr>
          <a:xfrm>
            <a:off x="1147572" y="1965960"/>
            <a:ext cx="640080" cy="6400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witch 1" id="662" name="Google Shape;6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394" y="213878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5"/>
          <p:cNvSpPr/>
          <p:nvPr/>
        </p:nvSpPr>
        <p:spPr>
          <a:xfrm>
            <a:off x="2434133" y="1965960"/>
            <a:ext cx="640080" cy="6400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witch 2" id="664" name="Google Shape;6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6954" y="213878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5"/>
          <p:cNvSpPr txBox="1"/>
          <p:nvPr/>
        </p:nvSpPr>
        <p:spPr>
          <a:xfrm>
            <a:off x="640080" y="3291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Switches encaminham só para a porta certa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 txBox="1"/>
          <p:nvPr/>
        </p:nvSpPr>
        <p:spPr>
          <a:xfrm>
            <a:off x="640080" y="3611880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 txBox="1"/>
          <p:nvPr/>
        </p:nvSpPr>
        <p:spPr>
          <a:xfrm>
            <a:off x="640080" y="3858768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rede Ethernet moderna com switches; o fabric Fibre Channel de uma SAN; a rede telefônica tradicional, que comuta circuitos entre centrais.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 txBox="1"/>
          <p:nvPr/>
        </p:nvSpPr>
        <p:spPr>
          <a:xfrm>
            <a:off x="3977640" y="1188720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 txBox="1"/>
          <p:nvPr/>
        </p:nvSpPr>
        <p:spPr>
          <a:xfrm>
            <a:off x="3977640" y="1435608"/>
            <a:ext cx="4709160" cy="80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switch recebe os dados, identifica o destino pelo endereço (MAC na Ethernet, WWN no Fibre Channel) e os encaminha apenas pela porta correta. Várias comunicações ocorrem ao mesmo tempo sem interferir umas nas outras.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5"/>
          <p:cNvSpPr txBox="1"/>
          <p:nvPr/>
        </p:nvSpPr>
        <p:spPr>
          <a:xfrm>
            <a:off x="3977640" y="2336841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TIPOS DE COMUTAÇÃO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 txBox="1"/>
          <p:nvPr/>
        </p:nvSpPr>
        <p:spPr>
          <a:xfrm>
            <a:off x="3977640" y="2583729"/>
            <a:ext cx="4709160" cy="62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 circuitos: um caminho fica reservado durante toda a comunicação (telefonia clássica). De pacotes: os dados são divididos em unidades encaminhadas individualmente (Ethernet, IP).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 txBox="1"/>
          <p:nvPr/>
        </p:nvSpPr>
        <p:spPr>
          <a:xfrm>
            <a:off x="3977640" y="3296229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 txBox="1"/>
          <p:nvPr/>
        </p:nvSpPr>
        <p:spPr>
          <a:xfrm>
            <a:off x="3977640" y="3543117"/>
            <a:ext cx="4709160" cy="432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Ethernet comutada (IEEE 802.3), Fibre Channel Switched Fabric (FC-SW), MPLS e, entre as antigas, ATM e Frame Relay.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 txBox="1"/>
          <p:nvPr/>
        </p:nvSpPr>
        <p:spPr>
          <a:xfrm>
            <a:off x="3977640" y="4066885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EQUIPAMENTOS TÍPICOS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 txBox="1"/>
          <p:nvPr/>
        </p:nvSpPr>
        <p:spPr>
          <a:xfrm>
            <a:off x="3977640" y="4313773"/>
            <a:ext cx="4709160" cy="24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Switches Ethernet de camada 2 e 3, switches e directors Fibre Channel.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5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CLASSIFICAÇÃO POR TOPOLOGIA · COMUTADA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Características, vantagens e limitações</a:t>
            </a:r>
            <a:endParaRPr sz="2600"/>
          </a:p>
        </p:txBody>
      </p:sp>
      <p:sp>
        <p:nvSpPr>
          <p:cNvPr id="684" name="Google Shape;684;p26"/>
          <p:cNvSpPr/>
          <p:nvPr/>
        </p:nvSpPr>
        <p:spPr>
          <a:xfrm>
            <a:off x="45720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Características" id="686" name="Google Shape;6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26"/>
          <p:cNvSpPr txBox="1"/>
          <p:nvPr/>
        </p:nvSpPr>
        <p:spPr>
          <a:xfrm>
            <a:off x="105156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 txBox="1"/>
          <p:nvPr/>
        </p:nvSpPr>
        <p:spPr>
          <a:xfrm>
            <a:off x="64008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 porta é um domínio de colisão separado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Comunicação full-duplex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Largura de banda dedicada por porta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Encaminhamento por tabela de endereços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 switch forma uma estrela, e vários switches interligados formam árvore ou malha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326898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6"/>
          <p:cNvSpPr/>
          <p:nvPr/>
        </p:nvSpPr>
        <p:spPr>
          <a:xfrm>
            <a:off x="3406140" y="1325880"/>
            <a:ext cx="365760" cy="36576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Vantagens" id="691" name="Google Shape;6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123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6"/>
          <p:cNvSpPr txBox="1"/>
          <p:nvPr/>
        </p:nvSpPr>
        <p:spPr>
          <a:xfrm>
            <a:off x="386334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Vantagens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 txBox="1"/>
          <p:nvPr/>
        </p:nvSpPr>
        <p:spPr>
          <a:xfrm>
            <a:off x="345186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Alto desempenho, sem colisões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Várias transmissões simultâneas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Boa escalabilidade, bastando acrescentar switches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Isolamento de falhas em cada porta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Mais segurança, pois os dados vão só ao destinatário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Permite segmentação (VLANs na Ethernet, zoneamento na SAN)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6080760" y="1188720"/>
            <a:ext cx="2606040" cy="352044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6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Limitações" id="696" name="Google Shape;69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018" y="142097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6"/>
          <p:cNvSpPr txBox="1"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 txBox="1"/>
          <p:nvPr/>
        </p:nvSpPr>
        <p:spPr>
          <a:xfrm>
            <a:off x="6263640" y="1810512"/>
            <a:ext cx="2286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Custo maior que o das soluções de meio compartilhado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switch é um ponto único de falha sem redundância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Configuração mais complexa em redes grandes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Enlaces redundantes entre switches exigem Spanning Tree para evitar loops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número de dispositivos depende das portas disponíveis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7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CLASSIFICAÇÃO POR ARQUITETURA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7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Peer-to-peer (P2P)</a:t>
            </a:r>
            <a:endParaRPr sz="2600"/>
          </a:p>
        </p:txBody>
      </p:sp>
      <p:sp>
        <p:nvSpPr>
          <p:cNvPr id="707" name="Google Shape;707;p27"/>
          <p:cNvSpPr txBox="1"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nós têm a mesma capacidade e responsabilidade dentro da rede, podendo agir como cliente e servidor ao mesmo tempo.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457200" y="3063240"/>
            <a:ext cx="3931920" cy="1280160"/>
          </a:xfrm>
          <a:prstGeom prst="roundRect">
            <a:avLst>
              <a:gd fmla="val 71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7"/>
          <p:cNvSpPr txBox="1"/>
          <p:nvPr/>
        </p:nvSpPr>
        <p:spPr>
          <a:xfrm>
            <a:off x="685800" y="32004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7"/>
          <p:cNvSpPr txBox="1"/>
          <p:nvPr/>
        </p:nvSpPr>
        <p:spPr>
          <a:xfrm>
            <a:off x="685800" y="3474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Torrent; compartilhamento direto de arquivos entre celulares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1" name="Google Shape;711;p27"/>
          <p:cNvCxnSpPr/>
          <p:nvPr/>
        </p:nvCxnSpPr>
        <p:spPr>
          <a:xfrm>
            <a:off x="6583680" y="1325880"/>
            <a:ext cx="1217505" cy="884569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27"/>
          <p:cNvCxnSpPr/>
          <p:nvPr/>
        </p:nvCxnSpPr>
        <p:spPr>
          <a:xfrm>
            <a:off x="6583680" y="1325880"/>
            <a:ext cx="752459" cy="2315831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27"/>
          <p:cNvCxnSpPr/>
          <p:nvPr/>
        </p:nvCxnSpPr>
        <p:spPr>
          <a:xfrm flipH="1">
            <a:off x="5831221" y="1325880"/>
            <a:ext cx="752459" cy="2315831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27"/>
          <p:cNvCxnSpPr/>
          <p:nvPr/>
        </p:nvCxnSpPr>
        <p:spPr>
          <a:xfrm flipH="1">
            <a:off x="5366175" y="1325880"/>
            <a:ext cx="1217505" cy="884569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27"/>
          <p:cNvCxnSpPr/>
          <p:nvPr/>
        </p:nvCxnSpPr>
        <p:spPr>
          <a:xfrm flipH="1">
            <a:off x="7336139" y="2210449"/>
            <a:ext cx="465045" cy="1431262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p27"/>
          <p:cNvCxnSpPr/>
          <p:nvPr/>
        </p:nvCxnSpPr>
        <p:spPr>
          <a:xfrm flipH="1">
            <a:off x="5831221" y="2210449"/>
            <a:ext cx="1969964" cy="1431262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7" name="Google Shape;717;p27"/>
          <p:cNvCxnSpPr/>
          <p:nvPr/>
        </p:nvCxnSpPr>
        <p:spPr>
          <a:xfrm flipH="1">
            <a:off x="5366175" y="2210449"/>
            <a:ext cx="2435009" cy="914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p27"/>
          <p:cNvCxnSpPr/>
          <p:nvPr/>
        </p:nvCxnSpPr>
        <p:spPr>
          <a:xfrm>
            <a:off x="5831221" y="3641711"/>
            <a:ext cx="1504918" cy="914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p27"/>
          <p:cNvCxnSpPr/>
          <p:nvPr/>
        </p:nvCxnSpPr>
        <p:spPr>
          <a:xfrm>
            <a:off x="5366175" y="2210449"/>
            <a:ext cx="1969964" cy="1431262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0" name="Google Shape;720;p27"/>
          <p:cNvCxnSpPr/>
          <p:nvPr/>
        </p:nvCxnSpPr>
        <p:spPr>
          <a:xfrm>
            <a:off x="5366175" y="2210449"/>
            <a:ext cx="465045" cy="1431262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1" name="Google Shape;721;p27"/>
          <p:cNvSpPr/>
          <p:nvPr/>
        </p:nvSpPr>
        <p:spPr>
          <a:xfrm>
            <a:off x="6300216" y="1042416"/>
            <a:ext cx="566928" cy="566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" id="722" name="Google Shape;7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3287" y="119548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7"/>
          <p:cNvSpPr/>
          <p:nvPr/>
        </p:nvSpPr>
        <p:spPr>
          <a:xfrm>
            <a:off x="7517721" y="1926985"/>
            <a:ext cx="566928" cy="566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" id="724" name="Google Shape;7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0791" y="2080055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7"/>
          <p:cNvSpPr/>
          <p:nvPr/>
        </p:nvSpPr>
        <p:spPr>
          <a:xfrm>
            <a:off x="7052675" y="3358247"/>
            <a:ext cx="566928" cy="566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" id="726" name="Google Shape;7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746" y="351131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7"/>
          <p:cNvSpPr/>
          <p:nvPr/>
        </p:nvSpPr>
        <p:spPr>
          <a:xfrm>
            <a:off x="5547757" y="3358247"/>
            <a:ext cx="566928" cy="566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" id="728" name="Google Shape;7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0827" y="351131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27"/>
          <p:cNvSpPr/>
          <p:nvPr/>
        </p:nvSpPr>
        <p:spPr>
          <a:xfrm>
            <a:off x="5082711" y="1926985"/>
            <a:ext cx="566928" cy="566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" id="730" name="Google Shape;7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82" y="2080055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7"/>
          <p:cNvSpPr txBox="1"/>
          <p:nvPr/>
        </p:nvSpPr>
        <p:spPr>
          <a:xfrm>
            <a:off x="5303520" y="4069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 nó é cliente e servidor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7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8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CLASSIFICAÇÃO POR ARQUITETURA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 txBox="1"/>
          <p:nvPr>
            <p:ph type="title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Cliente-servidor</a:t>
            </a:r>
            <a:endParaRPr sz="2600"/>
          </a:p>
        </p:txBody>
      </p:sp>
      <p:sp>
        <p:nvSpPr>
          <p:cNvPr id="740" name="Google Shape;740;p28"/>
          <p:cNvSpPr txBox="1"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centralizada: servidores fornecem recursos e serviços (músicas, aplicativos, arquivos), e clientes (computadores, celulares) acessam e consomem esses serviços.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457200" y="3063240"/>
            <a:ext cx="3931920" cy="1280160"/>
          </a:xfrm>
          <a:prstGeom prst="roundRect">
            <a:avLst>
              <a:gd fmla="val 71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 txBox="1"/>
          <p:nvPr/>
        </p:nvSpPr>
        <p:spPr>
          <a:xfrm>
            <a:off x="685800" y="32004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 txBox="1"/>
          <p:nvPr/>
        </p:nvSpPr>
        <p:spPr>
          <a:xfrm>
            <a:off x="685800" y="347472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navegador web é um aplicativo cliente, e um site como o Spotify fornece o conteúdo.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28"/>
          <p:cNvCxnSpPr/>
          <p:nvPr/>
        </p:nvCxnSpPr>
        <p:spPr>
          <a:xfrm>
            <a:off x="5074920" y="1600200"/>
            <a:ext cx="1508760" cy="11887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28"/>
          <p:cNvCxnSpPr/>
          <p:nvPr/>
        </p:nvCxnSpPr>
        <p:spPr>
          <a:xfrm flipH="1">
            <a:off x="6583680" y="1600200"/>
            <a:ext cx="1508760" cy="11887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28"/>
          <p:cNvCxnSpPr/>
          <p:nvPr/>
        </p:nvCxnSpPr>
        <p:spPr>
          <a:xfrm flipH="1">
            <a:off x="5074920" y="2788920"/>
            <a:ext cx="1508760" cy="11887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28"/>
          <p:cNvCxnSpPr/>
          <p:nvPr/>
        </p:nvCxnSpPr>
        <p:spPr>
          <a:xfrm>
            <a:off x="6583680" y="2788920"/>
            <a:ext cx="1508760" cy="11887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8" name="Google Shape;748;p28"/>
          <p:cNvSpPr/>
          <p:nvPr/>
        </p:nvSpPr>
        <p:spPr>
          <a:xfrm>
            <a:off x="4791456" y="1316736"/>
            <a:ext cx="566928" cy="5669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iente" id="749" name="Google Shape;7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4527" y="146980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8"/>
          <p:cNvSpPr/>
          <p:nvPr/>
        </p:nvSpPr>
        <p:spPr>
          <a:xfrm>
            <a:off x="7808976" y="1316736"/>
            <a:ext cx="566928" cy="5669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iente" id="751" name="Google Shape;7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047" y="146980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8"/>
          <p:cNvSpPr/>
          <p:nvPr/>
        </p:nvSpPr>
        <p:spPr>
          <a:xfrm>
            <a:off x="4791456" y="3694176"/>
            <a:ext cx="566928" cy="5669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iente" id="753" name="Google Shape;7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4527" y="384724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8"/>
          <p:cNvSpPr/>
          <p:nvPr/>
        </p:nvSpPr>
        <p:spPr>
          <a:xfrm>
            <a:off x="7808976" y="3694176"/>
            <a:ext cx="566928" cy="5669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iente" id="755" name="Google Shape;7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047" y="384724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8"/>
          <p:cNvSpPr/>
          <p:nvPr/>
        </p:nvSpPr>
        <p:spPr>
          <a:xfrm>
            <a:off x="6126480" y="2331720"/>
            <a:ext cx="914400" cy="91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rvidor" id="757" name="Google Shape;7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368" y="257860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8"/>
          <p:cNvSpPr txBox="1"/>
          <p:nvPr/>
        </p:nvSpPr>
        <p:spPr>
          <a:xfrm>
            <a:off x="5943600" y="32735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 txBox="1"/>
          <p:nvPr/>
        </p:nvSpPr>
        <p:spPr>
          <a:xfrm>
            <a:off x="4572000" y="98755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8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pos de Redes">
  <a:themeElements>
    <a:clrScheme name="Tipos de Redes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pos de Redes">
  <a:themeElements>
    <a:clrScheme name="Tipos de Redes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
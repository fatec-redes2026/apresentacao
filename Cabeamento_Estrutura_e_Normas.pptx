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b489fb8-961f-326f-2a0d-d258ee22e14a}">
          <p14:sldIdLst>
            <p14:sldId id="256"/>
          </p14:sldIdLst>
        </p14:section>
        <p14:section name="Codificação em linha" id="{6437da60-6a5c-b5dd-4641-c6db834070a6}">
          <p14:sldIdLst>
            <p14:sldId id="257"/>
            <p14:sldId id="258"/>
            <p14:sldId id="259"/>
            <p14:sldId id="260"/>
            <p14:sldId id="261"/>
          </p14:sldIdLst>
        </p14:section>
        <p14:section name="Cabeamento estruturado e normas" id="{d5cd6427-3b51-c7f5-1fab-c036494e7793}">
          <p14:sldIdLst>
            <p14:sldId id="262"/>
            <p14:sldId id="263"/>
            <p14:sldId id="264"/>
            <p14:sldId id="265"/>
            <p14:sldId id="266"/>
          </p14:sldIdLst>
        </p14:section>
        <p14:section name="Subsistemas e topologias" id="{9151ae4b-6196-07e2-4070-530da237e47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o 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Estrutura e normas</a:t>
            </a:r>
            <a:endParaRPr lang="en-US" sz="2200" dirty="0"/>
          </a:p>
        </p:txBody>
      </p:sp>
      <p:sp>
        <p:nvSpPr>
          <p:cNvPr id="4" name="tema 0 círculo"/>
          <p:cNvSpPr/>
          <p:nvPr/>
        </p:nvSpPr>
        <p:spPr>
          <a:xfrm>
            <a:off x="6035040" y="123444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ema 0" descr="tema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272" y="1493672"/>
            <a:ext cx="441655" cy="441655"/>
          </a:xfrm>
          <a:prstGeom prst="rect">
            <a:avLst/>
          </a:prstGeom>
        </p:spPr>
      </p:pic>
      <p:sp>
        <p:nvSpPr>
          <p:cNvPr id="6" name="tema 1 círculo"/>
          <p:cNvSpPr/>
          <p:nvPr/>
        </p:nvSpPr>
        <p:spPr>
          <a:xfrm>
            <a:off x="7269480" y="123444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ema 1" descr="tem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12" y="1493672"/>
            <a:ext cx="441655" cy="441655"/>
          </a:xfrm>
          <a:prstGeom prst="rect">
            <a:avLst/>
          </a:prstGeom>
        </p:spPr>
      </p:pic>
      <p:sp>
        <p:nvSpPr>
          <p:cNvPr id="8" name="tema 2 círculo"/>
          <p:cNvSpPr/>
          <p:nvPr/>
        </p:nvSpPr>
        <p:spPr>
          <a:xfrm>
            <a:off x="6035040" y="246888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tema 2" descr="tem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72" y="2728112"/>
            <a:ext cx="441655" cy="441655"/>
          </a:xfrm>
          <a:prstGeom prst="rect">
            <a:avLst/>
          </a:prstGeom>
        </p:spPr>
      </p:pic>
      <p:sp>
        <p:nvSpPr>
          <p:cNvPr id="10" name="tema 3 círculo"/>
          <p:cNvSpPr/>
          <p:nvPr/>
        </p:nvSpPr>
        <p:spPr>
          <a:xfrm>
            <a:off x="7269480" y="246888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tema 3" descr="tem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712" y="2728112"/>
            <a:ext cx="441655" cy="441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 EM LINHA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dos zeros e a codificação Manchester</a:t>
            </a:r>
            <a:endParaRPr lang="en-US" sz="2600" dirty="0"/>
          </a:p>
        </p:txBody>
      </p:sp>
      <p:sp>
        <p:nvSpPr>
          <p:cNvPr id="4" name="problema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pergunta círculo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pergunta" descr="per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950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fibra, se alguém mandar uma sequência de zeros (luz apagada), como saber se são vários zeros ou se o servidor está desconectado?</a:t>
            </a:r>
            <a:endParaRPr lang="en-US" sz="1350" dirty="0"/>
          </a:p>
        </p:txBody>
      </p:sp>
      <p:sp>
        <p:nvSpPr>
          <p:cNvPr id="9" name="solução"/>
          <p:cNvSpPr/>
          <p:nvPr/>
        </p:nvSpPr>
        <p:spPr>
          <a:xfrm>
            <a:off x="457200" y="2926080"/>
            <a:ext cx="393192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olução círculo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olução" descr="solu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32324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codificação Manchester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luz está sempre piscando, então logo se sabe se há conexão. Cada período de sincronização (ex.: 1 s) é dividido em duas metades de 0,5 s.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CADA BIT É ENVIADO</a:t>
            </a:r>
            <a:endParaRPr lang="en-US" sz="1150" dirty="0"/>
          </a:p>
        </p:txBody>
      </p:sp>
      <p:sp>
        <p:nvSpPr>
          <p:cNvPr id="15" name="Bit 1"/>
          <p:cNvSpPr/>
          <p:nvPr/>
        </p:nvSpPr>
        <p:spPr>
          <a:xfrm>
            <a:off x="4754880" y="1600200"/>
            <a:ext cx="39319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98348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→ aceso</a:t>
            </a:r>
            <a:endParaRPr lang="en-US" sz="1400" dirty="0"/>
          </a:p>
        </p:txBody>
      </p:sp>
      <p:sp>
        <p:nvSpPr>
          <p:cNvPr id="18" name="Bit 1 apagado"/>
          <p:cNvSpPr/>
          <p:nvPr/>
        </p:nvSpPr>
        <p:spPr>
          <a:xfrm>
            <a:off x="6492240" y="1874520"/>
            <a:ext cx="914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Bit 1 aceso"/>
          <p:cNvSpPr/>
          <p:nvPr/>
        </p:nvSpPr>
        <p:spPr>
          <a:xfrm>
            <a:off x="7406640" y="1874520"/>
            <a:ext cx="914400" cy="59436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9224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0664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2" name="Bit 0"/>
          <p:cNvSpPr/>
          <p:nvPr/>
        </p:nvSpPr>
        <p:spPr>
          <a:xfrm>
            <a:off x="4754880" y="3063240"/>
            <a:ext cx="39319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8348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0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498348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 → apagado</a:t>
            </a:r>
            <a:endParaRPr lang="en-US" sz="1400" dirty="0"/>
          </a:p>
        </p:txBody>
      </p:sp>
      <p:sp>
        <p:nvSpPr>
          <p:cNvPr id="25" name="Bit 0 aceso"/>
          <p:cNvSpPr/>
          <p:nvPr/>
        </p:nvSpPr>
        <p:spPr>
          <a:xfrm>
            <a:off x="6492240" y="3337560"/>
            <a:ext cx="914400" cy="59436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Bit 0 apagado"/>
          <p:cNvSpPr/>
          <p:nvPr/>
        </p:nvSpPr>
        <p:spPr>
          <a:xfrm>
            <a:off x="7406640" y="3337560"/>
            <a:ext cx="914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9224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0664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754880" y="4526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  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 EM LINHA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enviando 1, 0, 0, 1</a:t>
            </a:r>
            <a:endParaRPr lang="en-US" sz="2600" dirty="0"/>
          </a:p>
        </p:txBody>
      </p:sp>
      <p:sp>
        <p:nvSpPr>
          <p:cNvPr id="4" name="bit 1"/>
          <p:cNvSpPr/>
          <p:nvPr/>
        </p:nvSpPr>
        <p:spPr>
          <a:xfrm>
            <a:off x="868680" y="12344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</a:t>
            </a:r>
            <a:endParaRPr lang="en-US" sz="2000" dirty="0"/>
          </a:p>
        </p:txBody>
      </p:sp>
      <p:sp>
        <p:nvSpPr>
          <p:cNvPr id="6" name="bit 0"/>
          <p:cNvSpPr/>
          <p:nvPr/>
        </p:nvSpPr>
        <p:spPr>
          <a:xfrm>
            <a:off x="2743200" y="12344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234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0</a:t>
            </a:r>
            <a:endParaRPr lang="en-US" sz="2000" dirty="0"/>
          </a:p>
        </p:txBody>
      </p:sp>
      <p:sp>
        <p:nvSpPr>
          <p:cNvPr id="8" name="bit 0"/>
          <p:cNvSpPr/>
          <p:nvPr/>
        </p:nvSpPr>
        <p:spPr>
          <a:xfrm>
            <a:off x="4617720" y="12344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234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0</a:t>
            </a:r>
            <a:endParaRPr lang="en-US" sz="2000" dirty="0"/>
          </a:p>
        </p:txBody>
      </p:sp>
      <p:sp>
        <p:nvSpPr>
          <p:cNvPr id="10" name="bit 1"/>
          <p:cNvSpPr/>
          <p:nvPr/>
        </p:nvSpPr>
        <p:spPr>
          <a:xfrm>
            <a:off x="6492240" y="123444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234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</a:t>
            </a:r>
            <a:endParaRPr lang="en-US" sz="2000" dirty="0"/>
          </a:p>
        </p:txBody>
      </p:sp>
      <p:sp>
        <p:nvSpPr>
          <p:cNvPr id="12" name="meio bit apagado"/>
          <p:cNvSpPr/>
          <p:nvPr/>
        </p:nvSpPr>
        <p:spPr>
          <a:xfrm>
            <a:off x="822960" y="1920240"/>
            <a:ext cx="9372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io bit aceso"/>
          <p:cNvSpPr/>
          <p:nvPr/>
        </p:nvSpPr>
        <p:spPr>
          <a:xfrm>
            <a:off x="1760220" y="1920240"/>
            <a:ext cx="937260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eio bit aceso"/>
          <p:cNvSpPr/>
          <p:nvPr/>
        </p:nvSpPr>
        <p:spPr>
          <a:xfrm>
            <a:off x="2697480" y="1920240"/>
            <a:ext cx="937260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io bit apagado"/>
          <p:cNvSpPr/>
          <p:nvPr/>
        </p:nvSpPr>
        <p:spPr>
          <a:xfrm>
            <a:off x="3634740" y="1920240"/>
            <a:ext cx="9372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io bit aceso"/>
          <p:cNvSpPr/>
          <p:nvPr/>
        </p:nvSpPr>
        <p:spPr>
          <a:xfrm>
            <a:off x="4572000" y="1920240"/>
            <a:ext cx="937260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meio bit apagado"/>
          <p:cNvSpPr/>
          <p:nvPr/>
        </p:nvSpPr>
        <p:spPr>
          <a:xfrm>
            <a:off x="5509260" y="1920240"/>
            <a:ext cx="9372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io bit apagado"/>
          <p:cNvSpPr/>
          <p:nvPr/>
        </p:nvSpPr>
        <p:spPr>
          <a:xfrm>
            <a:off x="6446520" y="1920240"/>
            <a:ext cx="9372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io bit aceso"/>
          <p:cNvSpPr/>
          <p:nvPr/>
        </p:nvSpPr>
        <p:spPr>
          <a:xfrm>
            <a:off x="7383780" y="1920240"/>
            <a:ext cx="937260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6022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76022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3474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63474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50926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50926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83780" y="3090672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83780" y="3346704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s</a:t>
            </a:r>
            <a:endParaRPr lang="en-US" sz="1100" dirty="0"/>
          </a:p>
        </p:txBody>
      </p:sp>
      <p:sp>
        <p:nvSpPr>
          <p:cNvPr id="36" name="sequência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" y="3977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luz: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apagado, aceso · aceso, apagado · aceso, apagado · apagado, aceso (cada um por 0,5 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 EM LINHA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Sincronizando o ritmo: CDR e PLL</a:t>
            </a:r>
            <a:endParaRPr lang="en-US" sz="2600" dirty="0"/>
          </a:p>
        </p:txBody>
      </p:sp>
      <p:sp>
        <p:nvSpPr>
          <p:cNvPr id="4" name="cartão Imagine uma música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Imagine uma música círculo"/>
          <p:cNvSpPr/>
          <p:nvPr/>
        </p:nvSpPr>
        <p:spPr>
          <a:xfrm>
            <a:off x="603504" y="133502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ine uma música" descr="Imagine uma mús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" y="1465783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16152" y="13350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uma música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929384"/>
            <a:ext cx="363931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entrar no compasso, você vai batendo palmas até elas ficarem em sincronia com a música. É basicamente isso que o receptor óptico faz com o ritmo da luz.</a:t>
            </a:r>
            <a:endParaRPr lang="en-US" sz="1600" dirty="0"/>
          </a:p>
        </p:txBody>
      </p:sp>
      <p:sp>
        <p:nvSpPr>
          <p:cNvPr id="9" name="CDR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8348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and Data Recovery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que controla o ritmo da luz</a:t>
            </a:r>
            <a:endParaRPr lang="en-US" sz="1400" dirty="0"/>
          </a:p>
        </p:txBody>
      </p:sp>
      <p:sp>
        <p:nvSpPr>
          <p:cNvPr id="13" name="PLL"/>
          <p:cNvSpPr/>
          <p:nvPr/>
        </p:nvSpPr>
        <p:spPr>
          <a:xfrm>
            <a:off x="5074920" y="2697480"/>
            <a:ext cx="32918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0352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PLL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Phase-Locked Loop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dentro do CDR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 EM LINHA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nada para transmitir: o modelo antigo</a:t>
            </a:r>
            <a:endParaRPr lang="en-US" sz="2600" dirty="0"/>
          </a:p>
        </p:txBody>
      </p:sp>
      <p:sp>
        <p:nvSpPr>
          <p:cNvPr id="4" name="linha do tempo antiga"/>
          <p:cNvSpPr/>
          <p:nvPr/>
        </p:nvSpPr>
        <p:spPr>
          <a:xfrm>
            <a:off x="457200" y="1325880"/>
            <a:ext cx="822960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5" name="base"/>
          <p:cNvSpPr/>
          <p:nvPr/>
        </p:nvSpPr>
        <p:spPr>
          <a:xfrm>
            <a:off x="685800" y="2286000"/>
            <a:ext cx="777240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pulso"/>
          <p:cNvSpPr/>
          <p:nvPr/>
        </p:nvSpPr>
        <p:spPr>
          <a:xfrm>
            <a:off x="1051560" y="1645920"/>
            <a:ext cx="54864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" name="pulso"/>
          <p:cNvSpPr/>
          <p:nvPr/>
        </p:nvSpPr>
        <p:spPr>
          <a:xfrm>
            <a:off x="2148840" y="1645920"/>
            <a:ext cx="54864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" name="pulso"/>
          <p:cNvSpPr/>
          <p:nvPr/>
        </p:nvSpPr>
        <p:spPr>
          <a:xfrm>
            <a:off x="3246120" y="1645920"/>
            <a:ext cx="54864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pulso"/>
          <p:cNvSpPr/>
          <p:nvPr/>
        </p:nvSpPr>
        <p:spPr>
          <a:xfrm>
            <a:off x="4434840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0" name="pulso"/>
          <p:cNvSpPr/>
          <p:nvPr/>
        </p:nvSpPr>
        <p:spPr>
          <a:xfrm>
            <a:off x="4535424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" name="pulso"/>
          <p:cNvSpPr/>
          <p:nvPr/>
        </p:nvSpPr>
        <p:spPr>
          <a:xfrm>
            <a:off x="4636008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pulso"/>
          <p:cNvSpPr/>
          <p:nvPr/>
        </p:nvSpPr>
        <p:spPr>
          <a:xfrm>
            <a:off x="4736592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pulso"/>
          <p:cNvSpPr/>
          <p:nvPr/>
        </p:nvSpPr>
        <p:spPr>
          <a:xfrm>
            <a:off x="4837176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4" name="pulso"/>
          <p:cNvSpPr/>
          <p:nvPr/>
        </p:nvSpPr>
        <p:spPr>
          <a:xfrm>
            <a:off x="4937760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5" name="pulso"/>
          <p:cNvSpPr/>
          <p:nvPr/>
        </p:nvSpPr>
        <p:spPr>
          <a:xfrm>
            <a:off x="5038344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6" name="pulso"/>
          <p:cNvSpPr/>
          <p:nvPr/>
        </p:nvSpPr>
        <p:spPr>
          <a:xfrm>
            <a:off x="5138928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7" name="pulso"/>
          <p:cNvSpPr/>
          <p:nvPr/>
        </p:nvSpPr>
        <p:spPr>
          <a:xfrm>
            <a:off x="5239512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pulso"/>
          <p:cNvSpPr/>
          <p:nvPr/>
        </p:nvSpPr>
        <p:spPr>
          <a:xfrm>
            <a:off x="5340096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9" name="pulso"/>
          <p:cNvSpPr/>
          <p:nvPr/>
        </p:nvSpPr>
        <p:spPr>
          <a:xfrm>
            <a:off x="5440680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pulso"/>
          <p:cNvSpPr/>
          <p:nvPr/>
        </p:nvSpPr>
        <p:spPr>
          <a:xfrm>
            <a:off x="5541264" y="1645920"/>
            <a:ext cx="45720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1" name="pulso"/>
          <p:cNvSpPr/>
          <p:nvPr/>
        </p:nvSpPr>
        <p:spPr>
          <a:xfrm>
            <a:off x="580644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pulso"/>
          <p:cNvSpPr/>
          <p:nvPr/>
        </p:nvSpPr>
        <p:spPr>
          <a:xfrm>
            <a:off x="594360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3" name="pulso"/>
          <p:cNvSpPr/>
          <p:nvPr/>
        </p:nvSpPr>
        <p:spPr>
          <a:xfrm>
            <a:off x="621792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pulso"/>
          <p:cNvSpPr/>
          <p:nvPr/>
        </p:nvSpPr>
        <p:spPr>
          <a:xfrm>
            <a:off x="644652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5" name="pulso"/>
          <p:cNvSpPr/>
          <p:nvPr/>
        </p:nvSpPr>
        <p:spPr>
          <a:xfrm>
            <a:off x="653796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6" name="pulso"/>
          <p:cNvSpPr/>
          <p:nvPr/>
        </p:nvSpPr>
        <p:spPr>
          <a:xfrm>
            <a:off x="681228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pulso"/>
          <p:cNvSpPr/>
          <p:nvPr/>
        </p:nvSpPr>
        <p:spPr>
          <a:xfrm>
            <a:off x="704088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8" name="pulso"/>
          <p:cNvSpPr/>
          <p:nvPr/>
        </p:nvSpPr>
        <p:spPr>
          <a:xfrm>
            <a:off x="726948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pulso"/>
          <p:cNvSpPr/>
          <p:nvPr/>
        </p:nvSpPr>
        <p:spPr>
          <a:xfrm>
            <a:off x="736092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pulso"/>
          <p:cNvSpPr/>
          <p:nvPr/>
        </p:nvSpPr>
        <p:spPr>
          <a:xfrm>
            <a:off x="763524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1" name="pulso"/>
          <p:cNvSpPr/>
          <p:nvPr/>
        </p:nvSpPr>
        <p:spPr>
          <a:xfrm>
            <a:off x="786384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pulso"/>
          <p:cNvSpPr/>
          <p:nvPr/>
        </p:nvSpPr>
        <p:spPr>
          <a:xfrm>
            <a:off x="804672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3" name="pulso"/>
          <p:cNvSpPr/>
          <p:nvPr/>
        </p:nvSpPr>
        <p:spPr>
          <a:xfrm>
            <a:off x="8275320" y="1645920"/>
            <a:ext cx="82296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um pulso de tempos em tempos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Preâmbulo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57784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37" name="cartão Normal Link Pulse (NLP)"/>
          <p:cNvSpPr/>
          <p:nvPr/>
        </p:nvSpPr>
        <p:spPr>
          <a:xfrm>
            <a:off x="457200" y="31089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Normal Link Pulse (NLP) círculo"/>
          <p:cNvSpPr/>
          <p:nvPr/>
        </p:nvSpPr>
        <p:spPr>
          <a:xfrm>
            <a:off x="603504" y="325526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Normal Link Pulse (NLP)" descr="Normal Link Pulse (NL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3355116"/>
            <a:ext cx="184343" cy="184343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097280" y="32552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Link Pulse (NLP)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603504" y="3730752"/>
            <a:ext cx="3730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dados, não transmite luz nenhuma, mas de tempos em tempos pisca para informar que ainda há sinal.</a:t>
            </a:r>
            <a:endParaRPr lang="en-US" sz="1300" dirty="0"/>
          </a:p>
        </p:txBody>
      </p:sp>
      <p:sp>
        <p:nvSpPr>
          <p:cNvPr id="42" name="cartão Preâmbulo"/>
          <p:cNvSpPr/>
          <p:nvPr/>
        </p:nvSpPr>
        <p:spPr>
          <a:xfrm>
            <a:off x="4663440" y="31089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Preâmbulo círculo"/>
          <p:cNvSpPr/>
          <p:nvPr/>
        </p:nvSpPr>
        <p:spPr>
          <a:xfrm>
            <a:off x="4809744" y="32552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Preâmbulo" descr="Preâmbu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596" y="3355116"/>
            <a:ext cx="184343" cy="184343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5303520" y="32552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Preâmbulo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4809744" y="3730752"/>
            <a:ext cx="3730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voltar a enviar, pisca bastante para chamar a atenção e preparar o receptor.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CODIFICAÇÃO EM LINHA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na forma nova?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criados padrões de piscadas para avisar algo ao receptor, que percebe que aquilo é apenas um sinal de controle, não informação.</a:t>
            </a:r>
            <a:endParaRPr lang="en-US" sz="1500" dirty="0"/>
          </a:p>
        </p:txBody>
      </p:sp>
      <p:sp>
        <p:nvSpPr>
          <p:cNvPr id="5" name="linha do tempo nova"/>
          <p:cNvSpPr/>
          <p:nvPr/>
        </p:nvSpPr>
        <p:spPr>
          <a:xfrm>
            <a:off x="457200" y="1783080"/>
            <a:ext cx="822960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</p:sp>
      <p:sp>
        <p:nvSpPr>
          <p:cNvPr id="6" name="base"/>
          <p:cNvSpPr/>
          <p:nvPr/>
        </p:nvSpPr>
        <p:spPr>
          <a:xfrm>
            <a:off x="685800" y="2697480"/>
            <a:ext cx="146304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pulso"/>
          <p:cNvSpPr/>
          <p:nvPr/>
        </p:nvSpPr>
        <p:spPr>
          <a:xfrm>
            <a:off x="73152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" name="pulso"/>
          <p:cNvSpPr/>
          <p:nvPr/>
        </p:nvSpPr>
        <p:spPr>
          <a:xfrm>
            <a:off x="87782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pulso"/>
          <p:cNvSpPr/>
          <p:nvPr/>
        </p:nvSpPr>
        <p:spPr>
          <a:xfrm>
            <a:off x="102412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0" name="pulso"/>
          <p:cNvSpPr/>
          <p:nvPr/>
        </p:nvSpPr>
        <p:spPr>
          <a:xfrm>
            <a:off x="1170432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" name="pulso"/>
          <p:cNvSpPr/>
          <p:nvPr/>
        </p:nvSpPr>
        <p:spPr>
          <a:xfrm>
            <a:off x="131673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pulso"/>
          <p:cNvSpPr/>
          <p:nvPr/>
        </p:nvSpPr>
        <p:spPr>
          <a:xfrm>
            <a:off x="146304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pulso"/>
          <p:cNvSpPr/>
          <p:nvPr/>
        </p:nvSpPr>
        <p:spPr>
          <a:xfrm>
            <a:off x="160934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4" name="pulso"/>
          <p:cNvSpPr/>
          <p:nvPr/>
        </p:nvSpPr>
        <p:spPr>
          <a:xfrm>
            <a:off x="175564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5" name="pulso"/>
          <p:cNvSpPr/>
          <p:nvPr/>
        </p:nvSpPr>
        <p:spPr>
          <a:xfrm>
            <a:off x="1901952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6" name="pulso"/>
          <p:cNvSpPr/>
          <p:nvPr/>
        </p:nvSpPr>
        <p:spPr>
          <a:xfrm>
            <a:off x="204825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pisca sem parar</a:t>
            </a:r>
            <a:endParaRPr lang="en-US" sz="1200" dirty="0"/>
          </a:p>
        </p:txBody>
      </p:sp>
      <p:sp>
        <p:nvSpPr>
          <p:cNvPr id="18" name="Vou começar"/>
          <p:cNvSpPr/>
          <p:nvPr/>
        </p:nvSpPr>
        <p:spPr>
          <a:xfrm>
            <a:off x="2240280" y="2057400"/>
            <a:ext cx="12801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4028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 começar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base"/>
          <p:cNvSpPr/>
          <p:nvPr/>
        </p:nvSpPr>
        <p:spPr>
          <a:xfrm>
            <a:off x="3611880" y="2697480"/>
            <a:ext cx="237744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pulso"/>
          <p:cNvSpPr/>
          <p:nvPr/>
        </p:nvSpPr>
        <p:spPr>
          <a:xfrm>
            <a:off x="365760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3" name="pulso"/>
          <p:cNvSpPr/>
          <p:nvPr/>
        </p:nvSpPr>
        <p:spPr>
          <a:xfrm>
            <a:off x="3776472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pulso"/>
          <p:cNvSpPr/>
          <p:nvPr/>
        </p:nvSpPr>
        <p:spPr>
          <a:xfrm>
            <a:off x="413308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5" name="pulso"/>
          <p:cNvSpPr/>
          <p:nvPr/>
        </p:nvSpPr>
        <p:spPr>
          <a:xfrm>
            <a:off x="425196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6" name="pulso"/>
          <p:cNvSpPr/>
          <p:nvPr/>
        </p:nvSpPr>
        <p:spPr>
          <a:xfrm>
            <a:off x="460857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pulso"/>
          <p:cNvSpPr/>
          <p:nvPr/>
        </p:nvSpPr>
        <p:spPr>
          <a:xfrm>
            <a:off x="472744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8" name="pulso"/>
          <p:cNvSpPr/>
          <p:nvPr/>
        </p:nvSpPr>
        <p:spPr>
          <a:xfrm>
            <a:off x="508406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pulso"/>
          <p:cNvSpPr/>
          <p:nvPr/>
        </p:nvSpPr>
        <p:spPr>
          <a:xfrm>
            <a:off x="520293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0" name="pulso"/>
          <p:cNvSpPr/>
          <p:nvPr/>
        </p:nvSpPr>
        <p:spPr>
          <a:xfrm>
            <a:off x="532180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1" name="pulso"/>
          <p:cNvSpPr/>
          <p:nvPr/>
        </p:nvSpPr>
        <p:spPr>
          <a:xfrm>
            <a:off x="567842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pulso"/>
          <p:cNvSpPr/>
          <p:nvPr/>
        </p:nvSpPr>
        <p:spPr>
          <a:xfrm>
            <a:off x="579729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34" name="Terminei"/>
          <p:cNvSpPr/>
          <p:nvPr/>
        </p:nvSpPr>
        <p:spPr>
          <a:xfrm>
            <a:off x="6080760" y="2057400"/>
            <a:ext cx="109728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807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0807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base"/>
          <p:cNvSpPr/>
          <p:nvPr/>
        </p:nvSpPr>
        <p:spPr>
          <a:xfrm>
            <a:off x="7269480" y="2697480"/>
            <a:ext cx="1188720" cy="91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pulso"/>
          <p:cNvSpPr/>
          <p:nvPr/>
        </p:nvSpPr>
        <p:spPr>
          <a:xfrm>
            <a:off x="731520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9" name="pulso"/>
          <p:cNvSpPr/>
          <p:nvPr/>
        </p:nvSpPr>
        <p:spPr>
          <a:xfrm>
            <a:off x="746150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pulso"/>
          <p:cNvSpPr/>
          <p:nvPr/>
        </p:nvSpPr>
        <p:spPr>
          <a:xfrm>
            <a:off x="760780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1" name="pulso"/>
          <p:cNvSpPr/>
          <p:nvPr/>
        </p:nvSpPr>
        <p:spPr>
          <a:xfrm>
            <a:off x="7754112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2" name="pulso"/>
          <p:cNvSpPr/>
          <p:nvPr/>
        </p:nvSpPr>
        <p:spPr>
          <a:xfrm>
            <a:off x="7900416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3" name="pulso"/>
          <p:cNvSpPr/>
          <p:nvPr/>
        </p:nvSpPr>
        <p:spPr>
          <a:xfrm>
            <a:off x="8046720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4" name="pulso"/>
          <p:cNvSpPr/>
          <p:nvPr/>
        </p:nvSpPr>
        <p:spPr>
          <a:xfrm>
            <a:off x="8193024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5" name="pulso"/>
          <p:cNvSpPr/>
          <p:nvPr/>
        </p:nvSpPr>
        <p:spPr>
          <a:xfrm>
            <a:off x="8339328" y="2057400"/>
            <a:ext cx="64008" cy="640080"/>
          </a:xfrm>
          <a:prstGeom prst="rect">
            <a:avLst/>
          </a:prstGeom>
          <a:solidFill>
            <a:srgbClr val="FACC15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6948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</p:txBody>
      </p:sp>
      <p:sp>
        <p:nvSpPr>
          <p:cNvPr id="47" name="cartão Símbolos de controle"/>
          <p:cNvSpPr/>
          <p:nvPr/>
        </p:nvSpPr>
        <p:spPr>
          <a:xfrm>
            <a:off x="457200" y="3429000"/>
            <a:ext cx="26060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ímbolos de controle círculo"/>
          <p:cNvSpPr/>
          <p:nvPr/>
        </p:nvSpPr>
        <p:spPr>
          <a:xfrm>
            <a:off x="603504" y="35753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Símbolos de controle" descr="Símbolos de cont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3675156"/>
            <a:ext cx="184343" cy="184343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097280" y="357530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Símbolos de controle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603504" y="4050792"/>
            <a:ext cx="2313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"Estou aqui", "Vou começar", "Terminei"</a:t>
            </a:r>
            <a:endParaRPr lang="en-US" sz="1300" dirty="0"/>
          </a:p>
        </p:txBody>
      </p:sp>
      <p:sp>
        <p:nvSpPr>
          <p:cNvPr id="52" name="cartão Idle contínuo"/>
          <p:cNvSpPr/>
          <p:nvPr/>
        </p:nvSpPr>
        <p:spPr>
          <a:xfrm>
            <a:off x="3268980" y="3429000"/>
            <a:ext cx="26060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Idle contínuo círculo"/>
          <p:cNvSpPr/>
          <p:nvPr/>
        </p:nvSpPr>
        <p:spPr>
          <a:xfrm>
            <a:off x="3415284" y="357530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4" name="Idle contínuo" descr="Idle contínu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136" y="3675156"/>
            <a:ext cx="184343" cy="184343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3909060" y="357530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contínuo</a:t>
            </a:r>
            <a:endParaRPr lang="en-US" sz="1500" dirty="0"/>
          </a:p>
        </p:txBody>
      </p:sp>
      <p:sp>
        <p:nvSpPr>
          <p:cNvPr id="56" name="Text 52"/>
          <p:cNvSpPr txBox="1"/>
          <p:nvPr/>
        </p:nvSpPr>
        <p:spPr>
          <a:xfrm>
            <a:off x="3415284" y="4050792"/>
            <a:ext cx="2313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piscando sem parar para o receptor não perder o ritmo</a:t>
            </a:r>
            <a:endParaRPr lang="en-US" sz="1300" dirty="0"/>
          </a:p>
        </p:txBody>
      </p:sp>
      <p:sp>
        <p:nvSpPr>
          <p:cNvPr id="57" name="cartão Faixa reservada"/>
          <p:cNvSpPr/>
          <p:nvPr/>
        </p:nvSpPr>
        <p:spPr>
          <a:xfrm>
            <a:off x="6080760" y="3429000"/>
            <a:ext cx="260604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Faixa reservada círculo"/>
          <p:cNvSpPr/>
          <p:nvPr/>
        </p:nvSpPr>
        <p:spPr>
          <a:xfrm>
            <a:off x="6227064" y="357530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9" name="Faixa reservada" descr="Faixa reserva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16" y="3675156"/>
            <a:ext cx="184343" cy="184343"/>
          </a:xfrm>
          <a:prstGeom prst="rect">
            <a:avLst/>
          </a:prstGeom>
        </p:spPr>
      </p:pic>
      <p:sp>
        <p:nvSpPr>
          <p:cNvPr id="60" name="Text 55"/>
          <p:cNvSpPr txBox="1"/>
          <p:nvPr/>
        </p:nvSpPr>
        <p:spPr>
          <a:xfrm>
            <a:off x="6720840" y="3575304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reservada</a:t>
            </a:r>
            <a:endParaRPr lang="en-US" sz="1500" dirty="0"/>
          </a:p>
        </p:txBody>
      </p:sp>
      <p:sp>
        <p:nvSpPr>
          <p:cNvPr id="61" name="Text 56"/>
          <p:cNvSpPr txBox="1"/>
          <p:nvPr/>
        </p:nvSpPr>
        <p:spPr>
          <a:xfrm>
            <a:off x="6227064" y="4050792"/>
            <a:ext cx="2313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de bits reservadas para controle, nunca usadas para dados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ESTRUTURADO E NORMAS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cabeamento estruturado e normas?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os anos 80, cada fabricante fazia seu próprio cabo: havia um cabo específico para cada placa, câmera, telefone e terminal de mainframe.</a:t>
            </a:r>
            <a:endParaRPr lang="en-US" sz="1600" dirty="0"/>
          </a:p>
        </p:txBody>
      </p:sp>
      <p:sp>
        <p:nvSpPr>
          <p:cNvPr id="5" name="Placa de rede círculo"/>
          <p:cNvSpPr/>
          <p:nvPr/>
        </p:nvSpPr>
        <p:spPr>
          <a:xfrm>
            <a:off x="1051560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laca de rede" descr="Placa de re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726" y="205968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de rede</a:t>
            </a:r>
            <a:endParaRPr lang="en-US" sz="1300" dirty="0"/>
          </a:p>
        </p:txBody>
      </p:sp>
      <p:sp>
        <p:nvSpPr>
          <p:cNvPr id="8" name="cabo próprio Placa de rede"/>
          <p:cNvSpPr/>
          <p:nvPr/>
        </p:nvSpPr>
        <p:spPr>
          <a:xfrm>
            <a:off x="1389888" y="2880360"/>
            <a:ext cx="0" cy="32004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00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próprio</a:t>
            </a:r>
            <a:endParaRPr lang="en-US" sz="1100" dirty="0"/>
          </a:p>
        </p:txBody>
      </p:sp>
      <p:sp>
        <p:nvSpPr>
          <p:cNvPr id="10" name="Câmera círculo"/>
          <p:cNvSpPr/>
          <p:nvPr/>
        </p:nvSpPr>
        <p:spPr>
          <a:xfrm>
            <a:off x="3108960" y="1874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Câmera" descr="Câ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126" y="205968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060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</a:t>
            </a:r>
            <a:endParaRPr lang="en-US" sz="1300" dirty="0"/>
          </a:p>
        </p:txBody>
      </p:sp>
      <p:sp>
        <p:nvSpPr>
          <p:cNvPr id="13" name="cabo próprio Câmera"/>
          <p:cNvSpPr/>
          <p:nvPr/>
        </p:nvSpPr>
        <p:spPr>
          <a:xfrm>
            <a:off x="3447288" y="2880360"/>
            <a:ext cx="0" cy="32004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2606040" y="3200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próprio</a:t>
            </a:r>
            <a:endParaRPr lang="en-US" sz="1100" dirty="0"/>
          </a:p>
        </p:txBody>
      </p:sp>
      <p:sp>
        <p:nvSpPr>
          <p:cNvPr id="15" name="Telefone círculo"/>
          <p:cNvSpPr/>
          <p:nvPr/>
        </p:nvSpPr>
        <p:spPr>
          <a:xfrm>
            <a:off x="5166360" y="1874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Telefone" descr="Telef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526" y="205968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1300" dirty="0"/>
          </a:p>
        </p:txBody>
      </p:sp>
      <p:sp>
        <p:nvSpPr>
          <p:cNvPr id="18" name="cabo próprio Telefone"/>
          <p:cNvSpPr/>
          <p:nvPr/>
        </p:nvSpPr>
        <p:spPr>
          <a:xfrm>
            <a:off x="5504688" y="2880360"/>
            <a:ext cx="0" cy="320040"/>
          </a:xfrm>
          <a:prstGeom prst="line">
            <a:avLst/>
          </a:prstGeom>
          <a:noFill/>
          <a:ln w="50800">
            <a:solidFill>
              <a:schemeClr val="accent5"/>
            </a:solidFill>
            <a:prstDash val="sysDot"/>
          </a:ln>
        </p:spPr>
      </p:sp>
      <p:sp>
        <p:nvSpPr>
          <p:cNvPr id="19" name="Text 14"/>
          <p:cNvSpPr txBox="1"/>
          <p:nvPr/>
        </p:nvSpPr>
        <p:spPr>
          <a:xfrm>
            <a:off x="4663440" y="3200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próprio</a:t>
            </a:r>
            <a:endParaRPr lang="en-US" sz="1100" dirty="0"/>
          </a:p>
        </p:txBody>
      </p:sp>
      <p:sp>
        <p:nvSpPr>
          <p:cNvPr id="20" name="Terminal mainframe círculo"/>
          <p:cNvSpPr/>
          <p:nvPr/>
        </p:nvSpPr>
        <p:spPr>
          <a:xfrm>
            <a:off x="7223760" y="1874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Terminal mainframe" descr="Terminal mainfra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926" y="205968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208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mainframe</a:t>
            </a:r>
            <a:endParaRPr lang="en-US" sz="1300" dirty="0"/>
          </a:p>
        </p:txBody>
      </p:sp>
      <p:sp>
        <p:nvSpPr>
          <p:cNvPr id="23" name="cabo próprio Terminal mainframe"/>
          <p:cNvSpPr/>
          <p:nvPr/>
        </p:nvSpPr>
        <p:spPr>
          <a:xfrm>
            <a:off x="7562088" y="2880360"/>
            <a:ext cx="0" cy="320040"/>
          </a:xfrm>
          <a:prstGeom prst="line">
            <a:avLst/>
          </a:prstGeom>
          <a:noFill/>
          <a:ln w="50800">
            <a:solidFill>
              <a:schemeClr val="accent6"/>
            </a:solidFill>
            <a:prstDash val="lgDash"/>
          </a:ln>
        </p:spPr>
      </p:sp>
      <p:sp>
        <p:nvSpPr>
          <p:cNvPr id="24" name="Text 18"/>
          <p:cNvSpPr txBox="1"/>
          <p:nvPr/>
        </p:nvSpPr>
        <p:spPr>
          <a:xfrm>
            <a:off x="6720840" y="32004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próprio</a:t>
            </a:r>
            <a:endParaRPr lang="en-US" sz="1100" dirty="0"/>
          </a:p>
        </p:txBody>
      </p:sp>
      <p:sp>
        <p:nvSpPr>
          <p:cNvPr id="25" name="consequência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85800" y="3675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um simples fornecedor exigia um trabalho gigante:</a:t>
            </a:r>
            <a:endParaRPr lang="en-US" sz="1400" dirty="0"/>
          </a:p>
        </p:txBody>
      </p:sp>
      <p:sp>
        <p:nvSpPr>
          <p:cNvPr id="27" name="Novo recabeamento"/>
          <p:cNvSpPr/>
          <p:nvPr/>
        </p:nvSpPr>
        <p:spPr>
          <a:xfrm>
            <a:off x="685800" y="4069080"/>
            <a:ext cx="24688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8580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recabeamento</a:t>
            </a:r>
            <a:endParaRPr lang="en-US" sz="1400" dirty="0"/>
          </a:p>
        </p:txBody>
      </p:sp>
      <p:sp>
        <p:nvSpPr>
          <p:cNvPr id="29" name="Nova infraestrutura"/>
          <p:cNvSpPr/>
          <p:nvPr/>
        </p:nvSpPr>
        <p:spPr>
          <a:xfrm>
            <a:off x="3337560" y="4069080"/>
            <a:ext cx="24688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333756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infraestrutura</a:t>
            </a:r>
            <a:endParaRPr lang="en-US" sz="1400" dirty="0"/>
          </a:p>
        </p:txBody>
      </p:sp>
      <p:sp>
        <p:nvSpPr>
          <p:cNvPr id="31" name="Capacitação de profissionais"/>
          <p:cNvSpPr/>
          <p:nvPr/>
        </p:nvSpPr>
        <p:spPr>
          <a:xfrm>
            <a:off x="5989320" y="4069080"/>
            <a:ext cx="246888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98932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de profissionais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ESTRUTURADO E NORMAS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de cabeamento de infraestrutura</a:t>
            </a:r>
            <a:endParaRPr lang="en-US" sz="2600" dirty="0"/>
          </a:p>
        </p:txBody>
      </p:sp>
      <p:sp>
        <p:nvSpPr>
          <p:cNvPr id="4" name="TV círculo"/>
          <p:cNvSpPr/>
          <p:nvPr/>
        </p:nvSpPr>
        <p:spPr>
          <a:xfrm>
            <a:off x="457200" y="11704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V" descr="T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306220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155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comprar uma TV nova, você não chama um eletricista para passar um fio novo. O cabeamento estruturado tem a mesma ideia: cabos padronizados, instalados uma vez, que servem para qualquer aplicação e fabricante.</a:t>
            </a:r>
            <a:endParaRPr lang="en-US" sz="1350" dirty="0"/>
          </a:p>
        </p:txBody>
      </p:sp>
      <p:sp>
        <p:nvSpPr>
          <p:cNvPr id="7" name="cartão Genérico"/>
          <p:cNvSpPr/>
          <p:nvPr/>
        </p:nvSpPr>
        <p:spPr>
          <a:xfrm>
            <a:off x="457200" y="1874520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Genérico círculo"/>
          <p:cNvSpPr/>
          <p:nvPr/>
        </p:nvSpPr>
        <p:spPr>
          <a:xfrm>
            <a:off x="603504" y="202082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Genérico" descr="Genér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2" y="2106412"/>
            <a:ext cx="158008" cy="1580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42416" y="202082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44144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cabo serve para dados, voz, câmera IP</a:t>
            </a:r>
            <a:endParaRPr lang="en-US" sz="1200" dirty="0"/>
          </a:p>
        </p:txBody>
      </p:sp>
      <p:sp>
        <p:nvSpPr>
          <p:cNvPr id="12" name="cartão Independente de fabricante"/>
          <p:cNvSpPr/>
          <p:nvPr/>
        </p:nvSpPr>
        <p:spPr>
          <a:xfrm>
            <a:off x="3236976" y="1874520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Independente de fabricante círculo"/>
          <p:cNvSpPr/>
          <p:nvPr/>
        </p:nvSpPr>
        <p:spPr>
          <a:xfrm>
            <a:off x="3383280" y="202082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ndependente de fabricante" descr="Independente de fabrica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68" y="2106412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22192" y="202082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de fabricante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244144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fabricante segue o padrão, não a infraestrutura</a:t>
            </a:r>
            <a:endParaRPr lang="en-US" sz="1200" dirty="0"/>
          </a:p>
        </p:txBody>
      </p:sp>
      <p:sp>
        <p:nvSpPr>
          <p:cNvPr id="17" name="cartão Modular"/>
          <p:cNvSpPr/>
          <p:nvPr/>
        </p:nvSpPr>
        <p:spPr>
          <a:xfrm>
            <a:off x="6016752" y="1874520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Modular círculo"/>
          <p:cNvSpPr/>
          <p:nvPr/>
        </p:nvSpPr>
        <p:spPr>
          <a:xfrm>
            <a:off x="6163056" y="202082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Modular" descr="Modu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644" y="2106412"/>
            <a:ext cx="158008" cy="1580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601968" y="202082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163056" y="244144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tomada é igual; muda o que se liga nela</a:t>
            </a:r>
            <a:endParaRPr lang="en-US" sz="1200" dirty="0"/>
          </a:p>
        </p:txBody>
      </p:sp>
      <p:sp>
        <p:nvSpPr>
          <p:cNvPr id="22" name="cartão Desempenho previsível"/>
          <p:cNvSpPr/>
          <p:nvPr/>
        </p:nvSpPr>
        <p:spPr>
          <a:xfrm>
            <a:off x="457200" y="3035808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Desempenho previsível círculo"/>
          <p:cNvSpPr/>
          <p:nvPr/>
        </p:nvSpPr>
        <p:spPr>
          <a:xfrm>
            <a:off x="603504" y="31821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Desempenho previsível" descr="Desempenho previsí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92" y="3267700"/>
            <a:ext cx="158008" cy="1580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42416" y="318211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previsível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03504" y="360273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garante o desempenho, e isso pode ser testado</a:t>
            </a:r>
            <a:endParaRPr lang="en-US" sz="1200" dirty="0"/>
          </a:p>
        </p:txBody>
      </p:sp>
      <p:sp>
        <p:nvSpPr>
          <p:cNvPr id="27" name="cartão Organização e documentação"/>
          <p:cNvSpPr/>
          <p:nvPr/>
        </p:nvSpPr>
        <p:spPr>
          <a:xfrm>
            <a:off x="3236976" y="3035808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Organização e documentação círculo"/>
          <p:cNvSpPr/>
          <p:nvPr/>
        </p:nvSpPr>
        <p:spPr>
          <a:xfrm>
            <a:off x="3383280" y="31821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Organização e documentação" descr="Organização e document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868" y="3267700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22192" y="318211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documentação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3383280" y="360273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identificado: onde o cabo começa e termina</a:t>
            </a:r>
            <a:endParaRPr lang="en-US" sz="1200" dirty="0"/>
          </a:p>
        </p:txBody>
      </p:sp>
      <p:sp>
        <p:nvSpPr>
          <p:cNvPr id="32" name="cartão Flexibilidade"/>
          <p:cNvSpPr/>
          <p:nvPr/>
        </p:nvSpPr>
        <p:spPr>
          <a:xfrm>
            <a:off x="6016752" y="3035808"/>
            <a:ext cx="2670048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Flexibilidade círculo"/>
          <p:cNvSpPr/>
          <p:nvPr/>
        </p:nvSpPr>
        <p:spPr>
          <a:xfrm>
            <a:off x="6163056" y="31821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Flexibilidade" descr="Flexibilida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644" y="3267700"/>
            <a:ext cx="158008" cy="15800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601968" y="318211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163056" y="360273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um equipamento não deve exigir obras</a:t>
            </a:r>
            <a:endParaRPr lang="en-US" sz="1200" dirty="0"/>
          </a:p>
        </p:txBody>
      </p:sp>
      <p:sp>
        <p:nvSpPr>
          <p:cNvPr id="37" name="durabilidade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68580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 15 anos: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quanto o cabeamento deve durar. O que muda são os equipamentos.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ESTRUTURADO E NORMAS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para cada ambiente</a:t>
            </a:r>
            <a:endParaRPr lang="en-US" sz="2600" dirty="0"/>
          </a:p>
        </p:txBody>
      </p:sp>
      <p:sp>
        <p:nvSpPr>
          <p:cNvPr id="4" name="Edifícios comerciais"/>
          <p:cNvSpPr/>
          <p:nvPr/>
        </p:nvSpPr>
        <p:spPr>
          <a:xfrm>
            <a:off x="457200" y="1188720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Edifícios comerciais círculo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difícios comerciais" descr="Edifícios comercia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42573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25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TIA-568.1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Edifícios comerciais</a:t>
            </a:r>
            <a:endParaRPr lang="en-US" sz="1250" dirty="0"/>
          </a:p>
        </p:txBody>
      </p:sp>
      <p:sp>
        <p:nvSpPr>
          <p:cNvPr id="9" name="Residências"/>
          <p:cNvSpPr/>
          <p:nvPr/>
        </p:nvSpPr>
        <p:spPr>
          <a:xfrm>
            <a:off x="2544775" y="1188720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Residências círculo"/>
          <p:cNvSpPr/>
          <p:nvPr/>
        </p:nvSpPr>
        <p:spPr>
          <a:xfrm>
            <a:off x="2681935" y="1325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Residências" descr="Residênci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88" y="142573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39135" y="1325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TIA-570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81935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Residências</a:t>
            </a:r>
            <a:endParaRPr lang="en-US" sz="1250" dirty="0"/>
          </a:p>
        </p:txBody>
      </p:sp>
      <p:sp>
        <p:nvSpPr>
          <p:cNvPr id="14" name="Indústrias"/>
          <p:cNvSpPr/>
          <p:nvPr/>
        </p:nvSpPr>
        <p:spPr>
          <a:xfrm>
            <a:off x="4632350" y="1188720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Indústrias círculo"/>
          <p:cNvSpPr/>
          <p:nvPr/>
        </p:nvSpPr>
        <p:spPr>
          <a:xfrm>
            <a:off x="4769510" y="13258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ndústrias" descr="Indústri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363" y="1425732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6710" y="1325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TIA-1005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6951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Indústrias</a:t>
            </a:r>
            <a:endParaRPr lang="en-US" sz="1250" dirty="0"/>
          </a:p>
        </p:txBody>
      </p:sp>
      <p:sp>
        <p:nvSpPr>
          <p:cNvPr id="19" name="Data centers"/>
          <p:cNvSpPr/>
          <p:nvPr/>
        </p:nvSpPr>
        <p:spPr>
          <a:xfrm>
            <a:off x="6719926" y="1188720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Data centers círculo"/>
          <p:cNvSpPr/>
          <p:nvPr/>
        </p:nvSpPr>
        <p:spPr>
          <a:xfrm>
            <a:off x="6857086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Data centers" descr="Data cent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938" y="1425732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4286" y="1325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TIA-942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57086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</a:t>
            </a:r>
            <a:endParaRPr lang="en-US" sz="1250" dirty="0"/>
          </a:p>
        </p:txBody>
      </p:sp>
      <p:sp>
        <p:nvSpPr>
          <p:cNvPr id="24" name="Hospitais"/>
          <p:cNvSpPr/>
          <p:nvPr/>
        </p:nvSpPr>
        <p:spPr>
          <a:xfrm>
            <a:off x="457200" y="2359152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Hospitais círculo"/>
          <p:cNvSpPr/>
          <p:nvPr/>
        </p:nvSpPr>
        <p:spPr>
          <a:xfrm>
            <a:off x="594360" y="249631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Hospitais" descr="Hospita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2596164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24963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TIA-1179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</a:t>
            </a:r>
            <a:endParaRPr lang="en-US" sz="1250" dirty="0"/>
          </a:p>
        </p:txBody>
      </p:sp>
      <p:sp>
        <p:nvSpPr>
          <p:cNvPr id="29" name="Escolas e universidades"/>
          <p:cNvSpPr/>
          <p:nvPr/>
        </p:nvSpPr>
        <p:spPr>
          <a:xfrm>
            <a:off x="2544775" y="2359152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Escolas e universidades círculo"/>
          <p:cNvSpPr/>
          <p:nvPr/>
        </p:nvSpPr>
        <p:spPr>
          <a:xfrm>
            <a:off x="2681935" y="2496312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Escolas e universidades" descr="Escolas e universidad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788" y="2596164"/>
            <a:ext cx="184343" cy="1843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139135" y="24963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TIA-4966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2681935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 universidades</a:t>
            </a:r>
            <a:endParaRPr lang="en-US" sz="1250" dirty="0"/>
          </a:p>
        </p:txBody>
      </p:sp>
      <p:sp>
        <p:nvSpPr>
          <p:cNvPr id="34" name="Administração da infraestrutura de telecom"/>
          <p:cNvSpPr/>
          <p:nvPr/>
        </p:nvSpPr>
        <p:spPr>
          <a:xfrm>
            <a:off x="4632350" y="2359152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Administração da infraestrutura de telecom círculo"/>
          <p:cNvSpPr/>
          <p:nvPr/>
        </p:nvSpPr>
        <p:spPr>
          <a:xfrm>
            <a:off x="4769510" y="2496312"/>
            <a:ext cx="384048" cy="384048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6" name="Administração da infraestrutura de telecom" descr="Administração da infraestrutura de teleco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363" y="2596164"/>
            <a:ext cx="184343" cy="18434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226710" y="24963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ANSI/TIA-606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4769510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da infraestrutura de telecom</a:t>
            </a:r>
            <a:endParaRPr lang="en-US" sz="1250" dirty="0"/>
          </a:p>
        </p:txBody>
      </p:sp>
      <p:sp>
        <p:nvSpPr>
          <p:cNvPr id="39" name="Accuris"/>
          <p:cNvSpPr/>
          <p:nvPr/>
        </p:nvSpPr>
        <p:spPr>
          <a:xfrm>
            <a:off x="6719926" y="2359152"/>
            <a:ext cx="1965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0" name="loja círculo"/>
          <p:cNvSpPr/>
          <p:nvPr/>
        </p:nvSpPr>
        <p:spPr>
          <a:xfrm>
            <a:off x="6857086" y="249631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loja" descr="loj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938" y="2596164"/>
            <a:ext cx="184343" cy="18434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314286" y="24963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obter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857086" y="2953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loja online da Accuris</a:t>
            </a:r>
            <a:endParaRPr lang="en-US" sz="1250" dirty="0"/>
          </a:p>
        </p:txBody>
      </p:sp>
      <p:sp>
        <p:nvSpPr>
          <p:cNvPr id="44" name="brasil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45" name="Brasil círculo"/>
          <p:cNvSpPr/>
          <p:nvPr/>
        </p:nvSpPr>
        <p:spPr>
          <a:xfrm>
            <a:off x="640080" y="38587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Brasil" descr="Brasi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557" y="4019245"/>
            <a:ext cx="273406" cy="27340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417320" y="36576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a referência geral é a </a:t>
            </a:r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ABNT NBR 14565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alinhada à </a:t>
            </a:r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11801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ESTRUTURADO E NORMAS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usar esses padrões?</a:t>
            </a:r>
            <a:endParaRPr lang="en-US" sz="2600" dirty="0"/>
          </a:p>
        </p:txBody>
      </p:sp>
      <p:sp>
        <p:nvSpPr>
          <p:cNvPr id="4" name="cartão Custo ao longo do tempo"/>
          <p:cNvSpPr/>
          <p:nvPr/>
        </p:nvSpPr>
        <p:spPr>
          <a:xfrm>
            <a:off x="457200" y="1188720"/>
            <a:ext cx="365760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Custo ao longo do tempo círculo"/>
          <p:cNvSpPr/>
          <p:nvPr/>
        </p:nvSpPr>
        <p:spPr>
          <a:xfrm>
            <a:off x="603504" y="1335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usto ao longo do tempo" descr="Custo ao longo do te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1434876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3502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ao longo do tempo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810512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uma vez e serve por anos, para qualquer equipamento.</a:t>
            </a:r>
            <a:endParaRPr lang="en-US" sz="1400" dirty="0"/>
          </a:p>
        </p:txBody>
      </p:sp>
      <p:sp>
        <p:nvSpPr>
          <p:cNvPr id="9" name="cartão Disponibilidade"/>
          <p:cNvSpPr/>
          <p:nvPr/>
        </p:nvSpPr>
        <p:spPr>
          <a:xfrm>
            <a:off x="457200" y="2697480"/>
            <a:ext cx="365760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Disponibilidade círculo"/>
          <p:cNvSpPr/>
          <p:nvPr/>
        </p:nvSpPr>
        <p:spPr>
          <a:xfrm>
            <a:off x="603504" y="2843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Disponibilidade" descr="Disponibil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56" y="294363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84378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03504" y="3319272"/>
            <a:ext cx="33649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problemas de rede vêm da camada física: cabo mal crimpado, acima do limite de distância ou perto da rede elétrica.</a:t>
            </a:r>
            <a:endParaRPr lang="en-US" sz="1400" dirty="0"/>
          </a:p>
        </p:txBody>
      </p:sp>
      <p:sp>
        <p:nvSpPr>
          <p:cNvPr id="14" name="segurança"/>
          <p:cNvSpPr/>
          <p:nvPr/>
        </p:nvSpPr>
        <p:spPr>
          <a:xfrm>
            <a:off x="4297680" y="1188720"/>
            <a:ext cx="438912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15" name="segurança círculo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egurança" descr="seguranç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4447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</a:t>
            </a:r>
            <a:endParaRPr lang="en-US" sz="1700" dirty="0"/>
          </a:p>
        </p:txBody>
      </p:sp>
      <p:sp>
        <p:nvSpPr>
          <p:cNvPr id="18" name="marcador"/>
          <p:cNvSpPr/>
          <p:nvPr/>
        </p:nvSpPr>
        <p:spPr>
          <a:xfrm>
            <a:off x="4526280" y="1984248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84632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fiação falhar, a informação fica indisponível</a:t>
            </a:r>
            <a:endParaRPr lang="en-US" sz="1300" dirty="0"/>
          </a:p>
        </p:txBody>
      </p:sp>
      <p:sp>
        <p:nvSpPr>
          <p:cNvPr id="20" name="marcador"/>
          <p:cNvSpPr/>
          <p:nvPr/>
        </p:nvSpPr>
        <p:spPr>
          <a:xfrm>
            <a:off x="4526280" y="265176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846320" y="25877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físico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 e salas de telecom têm acesso limitado</a:t>
            </a:r>
            <a:endParaRPr lang="en-US" sz="1300" dirty="0"/>
          </a:p>
        </p:txBody>
      </p:sp>
      <p:sp>
        <p:nvSpPr>
          <p:cNvPr id="22" name="marcador"/>
          <p:cNvSpPr/>
          <p:nvPr/>
        </p:nvSpPr>
        <p:spPr>
          <a:xfrm>
            <a:off x="4526280" y="331927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846320" y="325526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dispositivo estranho é rapidamente detectado e localizado</a:t>
            </a:r>
            <a:endParaRPr lang="en-US" sz="1300" dirty="0"/>
          </a:p>
        </p:txBody>
      </p:sp>
      <p:sp>
        <p:nvSpPr>
          <p:cNvPr id="24" name="marcador"/>
          <p:cNvSpPr/>
          <p:nvPr/>
        </p:nvSpPr>
        <p:spPr>
          <a:xfrm>
            <a:off x="4526280" y="3986784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846320" y="39227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à ISO/IEC 27002, que pede controle da segurança do cabeamento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ESTRUTURADO E NORMAS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27002, controle 7.12: segurança do cabeamento</a:t>
            </a:r>
            <a:endParaRPr lang="en-US" sz="2600" dirty="0"/>
          </a:p>
        </p:txBody>
      </p:sp>
      <p:sp>
        <p:nvSpPr>
          <p:cNvPr id="4" name="cartão Cabos protegidos"/>
          <p:cNvSpPr/>
          <p:nvPr/>
        </p:nvSpPr>
        <p:spPr>
          <a:xfrm>
            <a:off x="457200" y="118872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Cabos protegidos círculo"/>
          <p:cNvSpPr/>
          <p:nvPr/>
        </p:nvSpPr>
        <p:spPr>
          <a:xfrm>
            <a:off x="603504" y="1335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bos protegidos" descr="Cabos protegi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1434876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35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 protegidos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eletrocalhas e eletrodutos dentro da parede, sem fios pelo chão</a:t>
            </a:r>
            <a:endParaRPr lang="en-US" sz="1350" dirty="0"/>
          </a:p>
        </p:txBody>
      </p:sp>
      <p:sp>
        <p:nvSpPr>
          <p:cNvPr id="9" name="cartão Longe de áreas públicas"/>
          <p:cNvSpPr/>
          <p:nvPr/>
        </p:nvSpPr>
        <p:spPr>
          <a:xfrm>
            <a:off x="3236976" y="118872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Longe de áreas públicas círculo"/>
          <p:cNvSpPr/>
          <p:nvPr/>
        </p:nvSpPr>
        <p:spPr>
          <a:xfrm>
            <a:off x="3383280" y="1335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onge de áreas públicas" descr="Longe de áreas públic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32" y="143487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77056" y="1335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 de áreas públicas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limitação física, use dutos fechados e/ou cabos blindados</a:t>
            </a:r>
            <a:endParaRPr lang="en-US" sz="1350" dirty="0"/>
          </a:p>
        </p:txBody>
      </p:sp>
      <p:sp>
        <p:nvSpPr>
          <p:cNvPr id="14" name="cartão Racks trancados"/>
          <p:cNvSpPr/>
          <p:nvPr/>
        </p:nvSpPr>
        <p:spPr>
          <a:xfrm>
            <a:off x="6016752" y="118872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Racks trancados círculo"/>
          <p:cNvSpPr/>
          <p:nvPr/>
        </p:nvSpPr>
        <p:spPr>
          <a:xfrm>
            <a:off x="6163056" y="1335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acks trancados" descr="Racks tranc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908" y="1434876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56832" y="1335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 trancados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163056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 e salas de telecom sempre trancados</a:t>
            </a:r>
            <a:endParaRPr lang="en-US" sz="1350" dirty="0"/>
          </a:p>
        </p:txBody>
      </p:sp>
      <p:sp>
        <p:nvSpPr>
          <p:cNvPr id="19" name="cartão Tudo identificado"/>
          <p:cNvSpPr/>
          <p:nvPr/>
        </p:nvSpPr>
        <p:spPr>
          <a:xfrm>
            <a:off x="457200" y="297180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udo identificado círculo"/>
          <p:cNvSpPr/>
          <p:nvPr/>
        </p:nvSpPr>
        <p:spPr>
          <a:xfrm>
            <a:off x="603504" y="3118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udo identificado" descr="Tudo identifica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56" y="3217956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0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identificado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03504" y="359359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todos os cabos e pontos conforme a TIA-606</a:t>
            </a:r>
            <a:endParaRPr lang="en-US" sz="1350" dirty="0"/>
          </a:p>
        </p:txBody>
      </p:sp>
      <p:sp>
        <p:nvSpPr>
          <p:cNvPr id="24" name="cartão Inspeções periódicas"/>
          <p:cNvSpPr/>
          <p:nvPr/>
        </p:nvSpPr>
        <p:spPr>
          <a:xfrm>
            <a:off x="3236976" y="297180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Inspeções periódicas círculo"/>
          <p:cNvSpPr/>
          <p:nvPr/>
        </p:nvSpPr>
        <p:spPr>
          <a:xfrm>
            <a:off x="3383280" y="3118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nspeções periódicas" descr="Inspeções periódic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132" y="3217956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77056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Inspeções periódicas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383280" y="359359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itens estranhos conectados à rede</a:t>
            </a:r>
            <a:endParaRPr lang="en-US" sz="1350" dirty="0"/>
          </a:p>
        </p:txBody>
      </p:sp>
      <p:sp>
        <p:nvSpPr>
          <p:cNvPr id="29" name="cartão Preferir fibra óptica"/>
          <p:cNvSpPr/>
          <p:nvPr/>
        </p:nvSpPr>
        <p:spPr>
          <a:xfrm>
            <a:off x="6016752" y="2971800"/>
            <a:ext cx="2670048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Preferir fibra óptica círculo"/>
          <p:cNvSpPr/>
          <p:nvPr/>
        </p:nvSpPr>
        <p:spPr>
          <a:xfrm>
            <a:off x="6163056" y="3118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Preferir fibra óptica" descr="Preferir fibra ópti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908" y="3217956"/>
            <a:ext cx="184343" cy="1843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56832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fibra óptica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163056" y="359359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conta da emissão de sinal eletromagnético do cobre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das normas de cabeamento</a:t>
            </a:r>
            <a:endParaRPr lang="en-US" sz="2600" dirty="0"/>
          </a:p>
        </p:txBody>
      </p:sp>
      <p:sp>
        <p:nvSpPr>
          <p:cNvPr id="4" name="cartão Topologia em barramento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opologia em barramento círculo"/>
          <p:cNvSpPr/>
          <p:nvPr/>
        </p:nvSpPr>
        <p:spPr>
          <a:xfrm>
            <a:off x="603504" y="13350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Topologia em barramento" descr="Topologia em barr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1434876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350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em barramento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810512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redes usavam um único cabo coaxial: a informação passava de conector a conector e, se um soltasse, a rede inteira caía.</a:t>
            </a:r>
            <a:endParaRPr lang="en-US" sz="1350" dirty="0"/>
          </a:p>
        </p:txBody>
      </p:sp>
      <p:sp>
        <p:nvSpPr>
          <p:cNvPr id="9" name="cartão Sem lugar definido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em lugar definido círculo"/>
          <p:cNvSpPr/>
          <p:nvPr/>
        </p:nvSpPr>
        <p:spPr>
          <a:xfrm>
            <a:off x="4809744" y="13350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Sem lugar definido" descr="Sem lugar defin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596" y="143487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3350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lugar definido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09744" y="1810512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ficavam dentro do escritório, a central telefônica no cantinho da bagunça.</a:t>
            </a:r>
            <a:endParaRPr lang="en-US" sz="1350" dirty="0"/>
          </a:p>
        </p:txBody>
      </p:sp>
      <p:sp>
        <p:nvSpPr>
          <p:cNvPr id="14" name="cartão Sem limites de distância claros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em limites de distância claros círculo"/>
          <p:cNvSpPr/>
          <p:nvPr/>
        </p:nvSpPr>
        <p:spPr>
          <a:xfrm>
            <a:off x="603504" y="29352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Sem limites de distância claros" descr="Sem limites de distância clar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56" y="3035076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97280" y="29352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limites de distância claros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" y="3410712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 muito longos, perda de sinal e dificuldade para encontrar problemas.</a:t>
            </a:r>
            <a:endParaRPr lang="en-US" sz="1350" dirty="0"/>
          </a:p>
        </p:txBody>
      </p:sp>
      <p:sp>
        <p:nvSpPr>
          <p:cNvPr id="19" name="cartão Sem fronteira de responsabilidade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em fronteira de responsabilidade círculo"/>
          <p:cNvSpPr/>
          <p:nvPr/>
        </p:nvSpPr>
        <p:spPr>
          <a:xfrm>
            <a:off x="4809744" y="29352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Sem fronteira de responsabilidade" descr="Sem fronteira de responsabilida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596" y="3035076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03520" y="29352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fronteira de responsabilidade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09744" y="3410712"/>
            <a:ext cx="3730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internet caía, a operação culpava o provedor, e o provedor culpava a empresa.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Havia apenas um único problema gigante.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subsistemas do cabeamento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prédio em partes, cada uma com função, limites claros e regras próprias.</a:t>
            </a:r>
            <a:endParaRPr lang="en-US" sz="1400" dirty="0"/>
          </a:p>
        </p:txBody>
      </p:sp>
      <p:sp>
        <p:nvSpPr>
          <p:cNvPr id="5" name="andar 3"/>
          <p:cNvSpPr/>
          <p:nvPr/>
        </p:nvSpPr>
        <p:spPr>
          <a:xfrm>
            <a:off x="1143000" y="1783080"/>
            <a:ext cx="3200400" cy="896112"/>
          </a:xfrm>
          <a:prstGeom prst="rect">
            <a:avLst/>
          </a:prstGeom>
          <a:solidFill>
            <a:srgbClr val="EEF2F7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6" name="andar 2"/>
          <p:cNvSpPr/>
          <p:nvPr/>
        </p:nvSpPr>
        <p:spPr>
          <a:xfrm>
            <a:off x="1143000" y="2679192"/>
            <a:ext cx="3200400" cy="896112"/>
          </a:xfrm>
          <a:prstGeom prst="rect">
            <a:avLst/>
          </a:prstGeom>
          <a:solidFill>
            <a:srgbClr val="EEF2F7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7" name="andar 1"/>
          <p:cNvSpPr/>
          <p:nvPr/>
        </p:nvSpPr>
        <p:spPr>
          <a:xfrm>
            <a:off x="1143000" y="3575304"/>
            <a:ext cx="3200400" cy="896112"/>
          </a:xfrm>
          <a:prstGeom prst="rect">
            <a:avLst/>
          </a:prstGeom>
          <a:solidFill>
            <a:srgbClr val="E2E8F0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8" name="telhado"/>
          <p:cNvSpPr/>
          <p:nvPr/>
        </p:nvSpPr>
        <p:spPr>
          <a:xfrm>
            <a:off x="1051560" y="1463040"/>
            <a:ext cx="3383280" cy="320040"/>
          </a:xfrm>
          <a:prstGeom prst="triangle">
            <a:avLst/>
          </a:prstGeom>
          <a:solidFill>
            <a:srgbClr val="334155"/>
          </a:solidFill>
          <a:ln/>
        </p:spPr>
      </p:sp>
      <p:sp>
        <p:nvSpPr>
          <p:cNvPr id="9" name="backbone"/>
          <p:cNvSpPr/>
          <p:nvPr/>
        </p:nvSpPr>
        <p:spPr>
          <a:xfrm>
            <a:off x="2971800" y="2468880"/>
            <a:ext cx="914" cy="1408176"/>
          </a:xfrm>
          <a:prstGeom prst="line">
            <a:avLst/>
          </a:prstGeom>
          <a:noFill/>
          <a:ln w="44450">
            <a:solidFill>
              <a:srgbClr val="7C3AED"/>
            </a:solidFill>
            <a:prstDash val="solid"/>
          </a:ln>
        </p:spPr>
      </p:sp>
      <p:sp>
        <p:nvSpPr>
          <p:cNvPr id="10" name="sala de telecom"/>
          <p:cNvSpPr/>
          <p:nvPr/>
        </p:nvSpPr>
        <p:spPr>
          <a:xfrm>
            <a:off x="2514600" y="2084832"/>
            <a:ext cx="91440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14600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100" dirty="0"/>
          </a:p>
        </p:txBody>
      </p:sp>
      <p:sp>
        <p:nvSpPr>
          <p:cNvPr id="12" name="cabeamento horizontal"/>
          <p:cNvSpPr/>
          <p:nvPr/>
        </p:nvSpPr>
        <p:spPr>
          <a:xfrm>
            <a:off x="3429000" y="2276856"/>
            <a:ext cx="36576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pic>
        <p:nvPicPr>
          <p:cNvPr id="13" name="área de trabalho" descr="compu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103120"/>
            <a:ext cx="365760" cy="347472"/>
          </a:xfrm>
          <a:prstGeom prst="rect">
            <a:avLst/>
          </a:prstGeom>
        </p:spPr>
      </p:pic>
      <p:sp>
        <p:nvSpPr>
          <p:cNvPr id="14" name="sala de telecom"/>
          <p:cNvSpPr/>
          <p:nvPr/>
        </p:nvSpPr>
        <p:spPr>
          <a:xfrm>
            <a:off x="2514600" y="2980944"/>
            <a:ext cx="91440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514600" y="29809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100" dirty="0"/>
          </a:p>
        </p:txBody>
      </p:sp>
      <p:sp>
        <p:nvSpPr>
          <p:cNvPr id="16" name="cabeamento horizontal"/>
          <p:cNvSpPr/>
          <p:nvPr/>
        </p:nvSpPr>
        <p:spPr>
          <a:xfrm>
            <a:off x="3429000" y="3172968"/>
            <a:ext cx="36576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pic>
        <p:nvPicPr>
          <p:cNvPr id="17" name="área de trabalho" descr="comput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999232"/>
            <a:ext cx="365760" cy="347472"/>
          </a:xfrm>
          <a:prstGeom prst="rect">
            <a:avLst/>
          </a:prstGeom>
        </p:spPr>
      </p:pic>
      <p:sp>
        <p:nvSpPr>
          <p:cNvPr id="18" name="entrada"/>
          <p:cNvSpPr/>
          <p:nvPr/>
        </p:nvSpPr>
        <p:spPr>
          <a:xfrm>
            <a:off x="1280160" y="3877056"/>
            <a:ext cx="91440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280160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20" name="sala de equipamentos"/>
          <p:cNvSpPr/>
          <p:nvPr/>
        </p:nvSpPr>
        <p:spPr>
          <a:xfrm>
            <a:off x="2514600" y="3877056"/>
            <a:ext cx="10972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51460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</a:t>
            </a:r>
            <a:endParaRPr lang="en-US" sz="1100" dirty="0"/>
          </a:p>
        </p:txBody>
      </p:sp>
      <p:sp>
        <p:nvSpPr>
          <p:cNvPr id="22" name="entrada para equipamentos"/>
          <p:cNvSpPr/>
          <p:nvPr/>
        </p:nvSpPr>
        <p:spPr>
          <a:xfrm>
            <a:off x="2194560" y="4069080"/>
            <a:ext cx="320040" cy="91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pic>
        <p:nvPicPr>
          <p:cNvPr id="23" name="operadora" descr="serviço exter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8768"/>
            <a:ext cx="411480" cy="411480"/>
          </a:xfrm>
          <a:prstGeom prst="rect">
            <a:avLst/>
          </a:prstGeom>
        </p:spPr>
      </p:pic>
      <p:sp>
        <p:nvSpPr>
          <p:cNvPr id="24" name="link externo"/>
          <p:cNvSpPr/>
          <p:nvPr/>
        </p:nvSpPr>
        <p:spPr>
          <a:xfrm>
            <a:off x="868680" y="4069080"/>
            <a:ext cx="411480" cy="914"/>
          </a:xfrm>
          <a:prstGeom prst="line">
            <a:avLst/>
          </a:prstGeom>
          <a:noFill/>
          <a:ln w="25400">
            <a:solidFill>
              <a:srgbClr val="0284C7"/>
            </a:solidFill>
            <a:prstDash val="dash"/>
          </a:ln>
        </p:spPr>
      </p:sp>
      <p:sp>
        <p:nvSpPr>
          <p:cNvPr id="25" name="número 1"/>
          <p:cNvSpPr/>
          <p:nvPr/>
        </p:nvSpPr>
        <p:spPr>
          <a:xfrm>
            <a:off x="1143000" y="360273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14300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número 2"/>
          <p:cNvSpPr/>
          <p:nvPr/>
        </p:nvSpPr>
        <p:spPr>
          <a:xfrm>
            <a:off x="3474720" y="3602736"/>
            <a:ext cx="256032" cy="25603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47472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número 3"/>
          <p:cNvSpPr/>
          <p:nvPr/>
        </p:nvSpPr>
        <p:spPr>
          <a:xfrm>
            <a:off x="3044952" y="3456432"/>
            <a:ext cx="256032" cy="256032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044952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número 4"/>
          <p:cNvSpPr/>
          <p:nvPr/>
        </p:nvSpPr>
        <p:spPr>
          <a:xfrm>
            <a:off x="2221992" y="2130552"/>
            <a:ext cx="256032" cy="256032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22199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número 5"/>
          <p:cNvSpPr/>
          <p:nvPr/>
        </p:nvSpPr>
        <p:spPr>
          <a:xfrm>
            <a:off x="3520440" y="182880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52044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número 6"/>
          <p:cNvSpPr/>
          <p:nvPr/>
        </p:nvSpPr>
        <p:spPr>
          <a:xfrm>
            <a:off x="4069080" y="2468880"/>
            <a:ext cx="256032" cy="25603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06908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número 1"/>
          <p:cNvSpPr/>
          <p:nvPr/>
        </p:nvSpPr>
        <p:spPr>
          <a:xfrm>
            <a:off x="4800600" y="155448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8006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5212080" y="15087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Chegada do serviço externo; divide responsabilidades</a:t>
            </a:r>
            <a:endParaRPr lang="en-US" sz="1350" dirty="0"/>
          </a:p>
        </p:txBody>
      </p:sp>
      <p:sp>
        <p:nvSpPr>
          <p:cNvPr id="40" name="número 2"/>
          <p:cNvSpPr/>
          <p:nvPr/>
        </p:nvSpPr>
        <p:spPr>
          <a:xfrm>
            <a:off x="4800600" y="2084832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80060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5212080" y="20391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equipamentos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que abastece tudo</a:t>
            </a:r>
            <a:endParaRPr lang="en-US" sz="1350" dirty="0"/>
          </a:p>
        </p:txBody>
      </p:sp>
      <p:sp>
        <p:nvSpPr>
          <p:cNvPr id="43" name="número 3"/>
          <p:cNvSpPr/>
          <p:nvPr/>
        </p:nvSpPr>
        <p:spPr>
          <a:xfrm>
            <a:off x="4800600" y="2615184"/>
            <a:ext cx="292608" cy="292608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48006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5212080" y="25694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a sala de equipamentos às salas de telecom</a:t>
            </a:r>
            <a:endParaRPr lang="en-US" sz="1350" dirty="0"/>
          </a:p>
        </p:txBody>
      </p:sp>
      <p:sp>
        <p:nvSpPr>
          <p:cNvPr id="46" name="número 4"/>
          <p:cNvSpPr/>
          <p:nvPr/>
        </p:nvSpPr>
        <p:spPr>
          <a:xfrm>
            <a:off x="4800600" y="3145536"/>
            <a:ext cx="292608" cy="292608"/>
          </a:xfrm>
          <a:prstGeom prst="ellipse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80060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5212080" y="30998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telecom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em cada andar (e pode isolá-lo)</a:t>
            </a:r>
            <a:endParaRPr lang="en-US" sz="1350" dirty="0"/>
          </a:p>
        </p:txBody>
      </p:sp>
      <p:sp>
        <p:nvSpPr>
          <p:cNvPr id="49" name="número 5"/>
          <p:cNvSpPr/>
          <p:nvPr/>
        </p:nvSpPr>
        <p:spPr>
          <a:xfrm>
            <a:off x="4800600" y="367588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480060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5212080" y="36301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Cabeamento horizontal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infraestrutura dentro da parede</a:t>
            </a:r>
            <a:endParaRPr lang="en-US" sz="1350" dirty="0"/>
          </a:p>
        </p:txBody>
      </p:sp>
      <p:sp>
        <p:nvSpPr>
          <p:cNvPr id="52" name="número 6"/>
          <p:cNvSpPr/>
          <p:nvPr/>
        </p:nvSpPr>
        <p:spPr>
          <a:xfrm>
            <a:off x="4800600" y="4206240"/>
            <a:ext cx="292608" cy="292608"/>
          </a:xfrm>
          <a:prstGeom prst="ellipse">
            <a:avLst/>
          </a:prstGeom>
          <a:solidFill>
            <a:srgbClr val="3341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80060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49"/>
          <p:cNvSpPr txBox="1"/>
          <p:nvPr/>
        </p:nvSpPr>
        <p:spPr>
          <a:xfrm>
            <a:off x="5212080" y="41605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trabalho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usuário se conecta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benefício dos subsistemas</a:t>
            </a:r>
            <a:endParaRPr lang="en-US" sz="2600" dirty="0"/>
          </a:p>
        </p:txBody>
      </p:sp>
      <p:sp>
        <p:nvSpPr>
          <p:cNvPr id="4" name="benefício"/>
          <p:cNvSpPr/>
          <p:nvPr/>
        </p:nvSpPr>
        <p:spPr>
          <a:xfrm>
            <a:off x="457200" y="1280160"/>
            <a:ext cx="822960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5" name="foco círculo"/>
          <p:cNvSpPr/>
          <p:nvPr/>
        </p:nvSpPr>
        <p:spPr>
          <a:xfrm>
            <a:off x="914400" y="1965960"/>
            <a:ext cx="1463040" cy="14630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foco" descr="fo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360981"/>
            <a:ext cx="672998" cy="6729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43200" y="14630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caso de falha, você ataca uma área específica e pode dar mais atenção a um determinado item do seu subsistema.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topologia? Estrela hierárquica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tem seu próprio cabo até a sala de telecom, e cada sala de telecom tem seu próprio cabo até a sala de equipamentos.</a:t>
            </a:r>
            <a:endParaRPr lang="en-US" sz="1600" dirty="0"/>
          </a:p>
        </p:txBody>
      </p:sp>
      <p:sp>
        <p:nvSpPr>
          <p:cNvPr id="5" name="falha"/>
          <p:cNvSpPr/>
          <p:nvPr/>
        </p:nvSpPr>
        <p:spPr>
          <a:xfrm>
            <a:off x="457200" y="3017520"/>
            <a:ext cx="338328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cabo rompido círculo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cabo rompido" descr="cabo romp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19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cabo rompe…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uma ponta da estrela para de funcionar.</a:t>
            </a:r>
            <a:endParaRPr lang="en-US" sz="1500" dirty="0"/>
          </a:p>
        </p:txBody>
      </p:sp>
      <p:sp>
        <p:nvSpPr>
          <p:cNvPr id="10" name="sala de equipamentos"/>
          <p:cNvSpPr/>
          <p:nvPr/>
        </p:nvSpPr>
        <p:spPr>
          <a:xfrm>
            <a:off x="5349240" y="1280160"/>
            <a:ext cx="21031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4924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equipamentos</a:t>
            </a:r>
            <a:endParaRPr lang="en-US" sz="1300" dirty="0"/>
          </a:p>
        </p:txBody>
      </p:sp>
      <p:sp>
        <p:nvSpPr>
          <p:cNvPr id="12" name="backbone"/>
          <p:cNvSpPr/>
          <p:nvPr/>
        </p:nvSpPr>
        <p:spPr>
          <a:xfrm flipH="1">
            <a:off x="4800600" y="1783080"/>
            <a:ext cx="1600200" cy="73152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3" name="backbone"/>
          <p:cNvSpPr/>
          <p:nvPr/>
        </p:nvSpPr>
        <p:spPr>
          <a:xfrm>
            <a:off x="6400800" y="1783080"/>
            <a:ext cx="914" cy="73152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4" name="backbone"/>
          <p:cNvSpPr/>
          <p:nvPr/>
        </p:nvSpPr>
        <p:spPr>
          <a:xfrm>
            <a:off x="6400800" y="1783080"/>
            <a:ext cx="1600200" cy="73152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5" name="sala de telecom"/>
          <p:cNvSpPr/>
          <p:nvPr/>
        </p:nvSpPr>
        <p:spPr>
          <a:xfrm>
            <a:off x="4206240" y="2514600"/>
            <a:ext cx="118872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06240" y="2514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telecom</a:t>
            </a:r>
            <a:endParaRPr lang="en-US" sz="1100" dirty="0"/>
          </a:p>
        </p:txBody>
      </p:sp>
      <p:sp>
        <p:nvSpPr>
          <p:cNvPr id="17" name="cabo horizontal"/>
          <p:cNvSpPr/>
          <p:nvPr/>
        </p:nvSpPr>
        <p:spPr>
          <a:xfrm flipH="1">
            <a:off x="4389120" y="2953512"/>
            <a:ext cx="411480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8" name="ponto"/>
          <p:cNvSpPr/>
          <p:nvPr/>
        </p:nvSpPr>
        <p:spPr>
          <a:xfrm>
            <a:off x="421538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cabo horizontal"/>
          <p:cNvSpPr/>
          <p:nvPr/>
        </p:nvSpPr>
        <p:spPr>
          <a:xfrm>
            <a:off x="4800600" y="2953512"/>
            <a:ext cx="914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0" name="ponto"/>
          <p:cNvSpPr/>
          <p:nvPr/>
        </p:nvSpPr>
        <p:spPr>
          <a:xfrm>
            <a:off x="462686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cabo horizontal"/>
          <p:cNvSpPr/>
          <p:nvPr/>
        </p:nvSpPr>
        <p:spPr>
          <a:xfrm>
            <a:off x="4800600" y="2953512"/>
            <a:ext cx="411480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2" name="ponto"/>
          <p:cNvSpPr/>
          <p:nvPr/>
        </p:nvSpPr>
        <p:spPr>
          <a:xfrm>
            <a:off x="503834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3" name="sala de telecom"/>
          <p:cNvSpPr/>
          <p:nvPr/>
        </p:nvSpPr>
        <p:spPr>
          <a:xfrm>
            <a:off x="5806440" y="2514600"/>
            <a:ext cx="118872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06440" y="2514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telecom</a:t>
            </a:r>
            <a:endParaRPr lang="en-US" sz="1100" dirty="0"/>
          </a:p>
        </p:txBody>
      </p:sp>
      <p:sp>
        <p:nvSpPr>
          <p:cNvPr id="25" name="cabo horizontal"/>
          <p:cNvSpPr/>
          <p:nvPr/>
        </p:nvSpPr>
        <p:spPr>
          <a:xfrm flipH="1">
            <a:off x="5989320" y="2953512"/>
            <a:ext cx="411480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6" name="ponto"/>
          <p:cNvSpPr/>
          <p:nvPr/>
        </p:nvSpPr>
        <p:spPr>
          <a:xfrm>
            <a:off x="581558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cabo horizontal"/>
          <p:cNvSpPr/>
          <p:nvPr/>
        </p:nvSpPr>
        <p:spPr>
          <a:xfrm>
            <a:off x="6400800" y="2953512"/>
            <a:ext cx="914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8" name="ponto"/>
          <p:cNvSpPr/>
          <p:nvPr/>
        </p:nvSpPr>
        <p:spPr>
          <a:xfrm>
            <a:off x="622706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9" name="cabo horizontal"/>
          <p:cNvSpPr/>
          <p:nvPr/>
        </p:nvSpPr>
        <p:spPr>
          <a:xfrm>
            <a:off x="6400800" y="2953512"/>
            <a:ext cx="411480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0" name="ponto"/>
          <p:cNvSpPr/>
          <p:nvPr/>
        </p:nvSpPr>
        <p:spPr>
          <a:xfrm>
            <a:off x="663854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1" name="sala de telecom"/>
          <p:cNvSpPr/>
          <p:nvPr/>
        </p:nvSpPr>
        <p:spPr>
          <a:xfrm>
            <a:off x="7406640" y="2514600"/>
            <a:ext cx="1188720" cy="438912"/>
          </a:xfrm>
          <a:prstGeom prst="roundRect">
            <a:avLst>
              <a:gd name="adj" fmla="val 20833"/>
            </a:avLst>
          </a:prstGeom>
          <a:solidFill>
            <a:schemeClr val="accent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406640" y="2514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telecom</a:t>
            </a:r>
            <a:endParaRPr lang="en-US" sz="1100" dirty="0"/>
          </a:p>
        </p:txBody>
      </p:sp>
      <p:sp>
        <p:nvSpPr>
          <p:cNvPr id="33" name="cabo horizontal"/>
          <p:cNvSpPr/>
          <p:nvPr/>
        </p:nvSpPr>
        <p:spPr>
          <a:xfrm flipH="1">
            <a:off x="7589520" y="2953512"/>
            <a:ext cx="411480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4" name="ponto"/>
          <p:cNvSpPr/>
          <p:nvPr/>
        </p:nvSpPr>
        <p:spPr>
          <a:xfrm>
            <a:off x="741578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5" name="cabo horizontal"/>
          <p:cNvSpPr/>
          <p:nvPr/>
        </p:nvSpPr>
        <p:spPr>
          <a:xfrm>
            <a:off x="8001000" y="2953512"/>
            <a:ext cx="914" cy="8412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6" name="ponto"/>
          <p:cNvSpPr/>
          <p:nvPr/>
        </p:nvSpPr>
        <p:spPr>
          <a:xfrm>
            <a:off x="7827264" y="3794760"/>
            <a:ext cx="347472" cy="347472"/>
          </a:xfrm>
          <a:prstGeom prst="ellipse">
            <a:avLst/>
          </a:prstGeom>
          <a:solidFill>
            <a:srgbClr val="334155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7" name="cabo rompido"/>
          <p:cNvSpPr/>
          <p:nvPr/>
        </p:nvSpPr>
        <p:spPr>
          <a:xfrm>
            <a:off x="8001000" y="2953512"/>
            <a:ext cx="411480" cy="841248"/>
          </a:xfrm>
          <a:prstGeom prst="line">
            <a:avLst/>
          </a:prstGeom>
          <a:noFill/>
          <a:ln w="25400">
            <a:solidFill>
              <a:srgbClr val="DB2777"/>
            </a:solidFill>
            <a:prstDash val="dash"/>
          </a:ln>
        </p:spPr>
      </p:sp>
      <p:sp>
        <p:nvSpPr>
          <p:cNvPr id="38" name="ponto parado"/>
          <p:cNvSpPr/>
          <p:nvPr/>
        </p:nvSpPr>
        <p:spPr>
          <a:xfrm>
            <a:off x="8238744" y="3794760"/>
            <a:ext cx="347472" cy="347472"/>
          </a:xfrm>
          <a:prstGeom prst="ellipse">
            <a:avLst/>
          </a:prstGeom>
          <a:solidFill>
            <a:srgbClr val="CBD5E1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9" name="rompido círculo"/>
          <p:cNvSpPr/>
          <p:nvPr/>
        </p:nvSpPr>
        <p:spPr>
          <a:xfrm>
            <a:off x="8257032" y="315468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0" name="rompido" descr="romp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184" y="3227832"/>
            <a:ext cx="146304" cy="146304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4206240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rede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se aplica?</a:t>
            </a:r>
            <a:endParaRPr lang="en-US" sz="2600" dirty="0"/>
          </a:p>
        </p:txBody>
      </p:sp>
      <p:sp>
        <p:nvSpPr>
          <p:cNvPr id="4" name="cartão Escritórios pequenos"/>
          <p:cNvSpPr/>
          <p:nvPr/>
        </p:nvSpPr>
        <p:spPr>
          <a:xfrm>
            <a:off x="457200" y="118872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Escritórios pequenos círculo"/>
          <p:cNvSpPr/>
          <p:nvPr/>
        </p:nvSpPr>
        <p:spPr>
          <a:xfrm>
            <a:off x="603504" y="133502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Escritórios pequenos" descr="Escritórios peque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2" y="1430122"/>
            <a:ext cx="175565" cy="1755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335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 pequenos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792224"/>
            <a:ext cx="1673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subsistemas no mesmo rack: entrada da operadora, equipamentos e distribuição. A norma permite isso.</a:t>
            </a:r>
            <a:endParaRPr lang="en-US" sz="1250" dirty="0"/>
          </a:p>
        </p:txBody>
      </p:sp>
      <p:sp>
        <p:nvSpPr>
          <p:cNvPr id="9" name="cartão Prédios com vários andares"/>
          <p:cNvSpPr/>
          <p:nvPr/>
        </p:nvSpPr>
        <p:spPr>
          <a:xfrm>
            <a:off x="2544775" y="118872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Prédios com vários andares círculo"/>
          <p:cNvSpPr/>
          <p:nvPr/>
        </p:nvSpPr>
        <p:spPr>
          <a:xfrm>
            <a:off x="2691079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rédios com vários andares" descr="Prédios com vários anda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177" y="1430122"/>
            <a:ext cx="175565" cy="1755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66567" y="1335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Prédios com vários andares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2691079" y="1792224"/>
            <a:ext cx="1673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subsistemas separados, com uma sala de telecom por andar ou por área.</a:t>
            </a:r>
            <a:endParaRPr lang="en-US" sz="1250" dirty="0"/>
          </a:p>
        </p:txBody>
      </p:sp>
      <p:sp>
        <p:nvSpPr>
          <p:cNvPr id="14" name="cartão Campus"/>
          <p:cNvSpPr/>
          <p:nvPr/>
        </p:nvSpPr>
        <p:spPr>
          <a:xfrm>
            <a:off x="4632350" y="118872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Campus círculo"/>
          <p:cNvSpPr/>
          <p:nvPr/>
        </p:nvSpPr>
        <p:spPr>
          <a:xfrm>
            <a:off x="4778654" y="1335024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Campus" descr="Camp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430122"/>
            <a:ext cx="175565" cy="1755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4142" y="1335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778654" y="1792224"/>
            <a:ext cx="1673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Soma-se o backbone de campus ligando os prédios, geralmente em fibra.</a:t>
            </a:r>
            <a:endParaRPr lang="en-US" sz="1250" dirty="0"/>
          </a:p>
        </p:txBody>
      </p:sp>
      <p:sp>
        <p:nvSpPr>
          <p:cNvPr id="19" name="cartão Data center"/>
          <p:cNvSpPr/>
          <p:nvPr/>
        </p:nvSpPr>
        <p:spPr>
          <a:xfrm>
            <a:off x="6719926" y="118872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Data center círculo"/>
          <p:cNvSpPr/>
          <p:nvPr/>
        </p:nvSpPr>
        <p:spPr>
          <a:xfrm>
            <a:off x="6866230" y="133502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Data center" descr="Data ce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327" y="1430122"/>
            <a:ext cx="175565" cy="1755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41718" y="1335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866230" y="1792224"/>
            <a:ext cx="1673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TIA-942 usa hierarquia própria, com a mesma lógica: áreas de distribuição principal, de zona e de equipamentos.</a:t>
            </a:r>
            <a:endParaRPr lang="en-US" sz="1250" dirty="0"/>
          </a:p>
        </p:txBody>
      </p:sp>
      <p:sp>
        <p:nvSpPr>
          <p:cNvPr id="24" name="exemplo fatec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25" name="turma círculo"/>
          <p:cNvSpPr/>
          <p:nvPr/>
        </p:nvSpPr>
        <p:spPr>
          <a:xfrm>
            <a:off x="640080" y="381304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turma" descr="turm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2" y="3985870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3611880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 própria Fatec.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chega o link da operadora? Onde ficam os servidores e o switch principal? Existe um rack por bloco ou por andar?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SUBSISTEMAS E TOPOLOGIAS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arquitetura é importante?</a:t>
            </a:r>
            <a:endParaRPr lang="en-US" sz="2600" dirty="0"/>
          </a:p>
        </p:txBody>
      </p:sp>
      <p:sp>
        <p:nvSpPr>
          <p:cNvPr id="4" name="cartão Isolamento de falha e troubleshooting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22304F"/>
          </a:solidFill>
          <a:ln/>
        </p:spPr>
      </p:sp>
      <p:sp>
        <p:nvSpPr>
          <p:cNvPr id="5" name="Isolamento de falha e troubleshooting círculo"/>
          <p:cNvSpPr/>
          <p:nvPr/>
        </p:nvSpPr>
        <p:spPr>
          <a:xfrm>
            <a:off x="603504" y="133502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solamento de falha e troubleshooting" descr="Isolamento de falha e troubleshoo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56" y="1434876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3350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falha e troubleshooting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810512"/>
            <a:ext cx="3730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estrela, uma falha afeta só um galho, e como cada subsistema tem fronteiras definidas, o técnico sabe onde procurar.</a:t>
            </a:r>
            <a:endParaRPr lang="en-US" sz="1350" dirty="0"/>
          </a:p>
        </p:txBody>
      </p:sp>
      <p:sp>
        <p:nvSpPr>
          <p:cNvPr id="9" name="cartão Crescimento organizado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22304F"/>
          </a:solidFill>
          <a:ln/>
        </p:spPr>
      </p:sp>
      <p:sp>
        <p:nvSpPr>
          <p:cNvPr id="10" name="Crescimento organizado círculo"/>
          <p:cNvSpPr/>
          <p:nvPr/>
        </p:nvSpPr>
        <p:spPr>
          <a:xfrm>
            <a:off x="4809744" y="1335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rescimento organizado" descr="Crescimento organiz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596" y="1434876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3350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organizado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09744" y="1810512"/>
            <a:ext cx="3730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um novo andar? Basta adicionar um novo galho à árvore.</a:t>
            </a:r>
            <a:endParaRPr lang="en-US" sz="1350" dirty="0"/>
          </a:p>
        </p:txBody>
      </p:sp>
      <p:sp>
        <p:nvSpPr>
          <p:cNvPr id="14" name="cartão Desempenho garantido"/>
          <p:cNvSpPr/>
          <p:nvPr/>
        </p:nvSpPr>
        <p:spPr>
          <a:xfrm>
            <a:off x="45720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22304F"/>
          </a:solidFill>
          <a:ln/>
        </p:spPr>
      </p:sp>
      <p:sp>
        <p:nvSpPr>
          <p:cNvPr id="15" name="Desempenho garantido círculo"/>
          <p:cNvSpPr/>
          <p:nvPr/>
        </p:nvSpPr>
        <p:spPr>
          <a:xfrm>
            <a:off x="603504" y="316382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Desempenho garantido" descr="Desempenho garanti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56" y="3263676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97280" y="31638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garantido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" y="3639312"/>
            <a:ext cx="3730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subsistema define seus requisitos (tipo de cabo, distância), o que controla atenuação e crosstalk.</a:t>
            </a:r>
            <a:endParaRPr lang="en-US" sz="1350" dirty="0"/>
          </a:p>
        </p:txBody>
      </p:sp>
      <p:sp>
        <p:nvSpPr>
          <p:cNvPr id="19" name="cartão Responsabilidade clara"/>
          <p:cNvSpPr/>
          <p:nvPr/>
        </p:nvSpPr>
        <p:spPr>
          <a:xfrm>
            <a:off x="466344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22304F"/>
          </a:solidFill>
          <a:ln/>
        </p:spPr>
      </p:sp>
      <p:sp>
        <p:nvSpPr>
          <p:cNvPr id="20" name="Responsabilidade clara círculo"/>
          <p:cNvSpPr/>
          <p:nvPr/>
        </p:nvSpPr>
        <p:spPr>
          <a:xfrm>
            <a:off x="4809744" y="31638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Responsabilidade clara" descr="Responsabilidade cla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596" y="3263676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03520" y="316382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clara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809744" y="3639312"/>
            <a:ext cx="37307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demarcação na entrada define o que é da operadora e o que é da empresa, evitando o jogo de empurra.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beamento">
  <a:themeElements>
    <a:clrScheme name="Cabeamento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Cabeament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Cabeamento: Estrutura e Normas</dc:title>
  <dc:subject>PptxGenJS Presentation</dc:subject>
  <dc:creator>PptxGenJS</dc:creator>
  <cp:lastModifiedBy>PptxGenJS</cp:lastModifiedBy>
  <cp:revision>1</cp:revision>
  <dcterms:created xsi:type="dcterms:W3CDTF">2026-10-16T22:10:47Z</dcterms:created>
  <dcterms:modified xsi:type="dcterms:W3CDTF">2026-10-16T22:10:47Z</dcterms:modified>
</cp:coreProperties>
</file>